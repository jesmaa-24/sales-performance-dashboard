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</p:sldIdLst>
  <p:sldSz cy="8229600" cx="14630400"/>
  <p:notesSz cx="8229600" cy="14630400"/>
  <p:embeddedFontLst>
    <p:embeddedFont>
      <p:font typeface="Geist"/>
      <p:regular r:id="rId24"/>
      <p:bold r:id="rId25"/>
    </p:embeddedFont>
    <p:embeddedFont>
      <p:font typeface="EB Garamond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font" Target="fonts/Geist-regular.fntdata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EBGaramond-regular.fntdata"/><Relationship Id="rId25" Type="http://schemas.openxmlformats.org/officeDocument/2006/relationships/font" Target="fonts/Geist-bold.fntdata"/><Relationship Id="rId28" Type="http://schemas.openxmlformats.org/officeDocument/2006/relationships/font" Target="fonts/EBGaramond-italic.fntdata"/><Relationship Id="rId27" Type="http://schemas.openxmlformats.org/officeDocument/2006/relationships/font" Target="fonts/EBGaramond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EBGaramond-bold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/>
              <a:t>‹#›</a:t>
            </a:fld>
            <a:endParaRPr b="0" i="0" sz="1200" u="none" cap="none" strike="noStrik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" name="Google Shape;5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" name="Google Shape;6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b2e0feee45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b2e0feee45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g3b2e0feee45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b2e5ab3b1c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b2e5ab3b1c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g3b2e5ab3b1c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b2e5ab3b1c_0_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b2e5ab3b1c_0_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g3b2e5ab3b1c_0_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b2e5ab3b1c_0_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b2e5ab3b1c_0_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g3b2e5ab3b1c_0_1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b2e5ab3b1c_0_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b2e5ab3b1c_0_2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g3b2e5ab3b1c_0_2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b2e5ab3b1c_0_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b2e5ab3b1c_0_2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g3b2e5ab3b1c_0_2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b2e5ab3b1c_0_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b2e5ab3b1c_0_3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g3b2e5ab3b1c_0_3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b2e5ab3b1c_0_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b2e5ab3b1c_0_4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g3b2e5ab3b1c_0_4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b2e5ab3b1c_0_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b2e5ab3b1c_0_4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g3b2e5ab3b1c_0_4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" name="Google Shape;14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" name="Google Shape;16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6" name="Google Shape;19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0" name="Google Shape;21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4" name="Google Shape;24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1" name="Google Shape;271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3" name="Google Shape;303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1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9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1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9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1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9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1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9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1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9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1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9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1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9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1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9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1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9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1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9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1" name="Google Shape;11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5F9F2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" name="Google Shape;13;p2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5" name="Google Shape;15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5F9F2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" name="Google Shape;17;p3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9" name="Google Shape;19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5F9F2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" name="Google Shape;21;p4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3" name="Google Shape;23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5F9F2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" name="Google Shape;25;p5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7" name="Google Shape;27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5F9F2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" name="Google Shape;29;p6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1" name="Google Shape;31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5F9F2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" name="Google Shape;33;p7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5" name="Google Shape;35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5F9F2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7" name="Google Shape;37;p8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8 master">
  <p:cSld name="Slide 8 master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9" name="Google Shape;39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5F9F2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1" name="Google Shape;41;p9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9 master">
  <p:cSld name="Slide 9 master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3" name="Google Shape;43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1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5F9F2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5" name="Google Shape;45;p10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0 master">
  <p:cSld name="Slide 10 mast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7" name="Google Shape;47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1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5F9F2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9" name="Google Shape;49;p11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6" name="Google Shape;5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76072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/>
          <p:nvPr/>
        </p:nvSpPr>
        <p:spPr>
          <a:xfrm>
            <a:off x="6280190" y="3080028"/>
            <a:ext cx="7328773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006747"/>
              </a:buClr>
              <a:buSzPts val="4450"/>
              <a:buFont typeface="Arial"/>
              <a:buNone/>
            </a:pPr>
            <a:r>
              <a:rPr b="1" i="0" lang="en-US" sz="4450" u="none" cap="none" strike="noStrike">
                <a:solidFill>
                  <a:srgbClr val="006747"/>
                </a:solidFill>
                <a:latin typeface="Arial"/>
                <a:ea typeface="Arial"/>
                <a:cs typeface="Arial"/>
                <a:sym typeface="Arial"/>
              </a:rPr>
              <a:t>Sales Analysis Dashboard</a:t>
            </a:r>
            <a:endParaRPr b="0" i="0" sz="4450" u="none" cap="none" strike="noStrike"/>
          </a:p>
        </p:txBody>
      </p:sp>
      <p:sp>
        <p:nvSpPr>
          <p:cNvPr id="58" name="Google Shape;58;p13"/>
          <p:cNvSpPr/>
          <p:nvPr/>
        </p:nvSpPr>
        <p:spPr>
          <a:xfrm>
            <a:off x="6280190" y="3879533"/>
            <a:ext cx="4536519" cy="5669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52"/>
              </a:lnSpc>
              <a:spcBef>
                <a:spcPts val="0"/>
              </a:spcBef>
              <a:spcAft>
                <a:spcPts val="0"/>
              </a:spcAft>
              <a:buClr>
                <a:srgbClr val="006747"/>
              </a:buClr>
              <a:buSzPts val="3550"/>
              <a:buFont typeface="Arial"/>
              <a:buNone/>
            </a:pPr>
            <a:r>
              <a:rPr b="1" i="0" lang="en-US" sz="3550" u="none" cap="none" strike="noStrike">
                <a:solidFill>
                  <a:srgbClr val="006747"/>
                </a:solidFill>
                <a:latin typeface="Arial"/>
                <a:ea typeface="Arial"/>
                <a:cs typeface="Arial"/>
                <a:sym typeface="Arial"/>
              </a:rPr>
              <a:t>Power BI Project</a:t>
            </a:r>
            <a:endParaRPr b="0" i="0" sz="3550" u="none" cap="none" strike="noStrike"/>
          </a:p>
        </p:txBody>
      </p:sp>
      <p:sp>
        <p:nvSpPr>
          <p:cNvPr id="59" name="Google Shape;59;p13"/>
          <p:cNvSpPr/>
          <p:nvPr/>
        </p:nvSpPr>
        <p:spPr>
          <a:xfrm>
            <a:off x="6280190" y="4786670"/>
            <a:ext cx="755642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B4A4A"/>
              </a:buClr>
              <a:buSzPts val="1750"/>
              <a:buFont typeface="Geist"/>
              <a:buNone/>
            </a:pPr>
            <a:r>
              <a:rPr b="0" i="0" lang="en-US" sz="1750" u="none" cap="none" strike="noStrike">
                <a:solidFill>
                  <a:srgbClr val="4B4A4A"/>
                </a:solidFill>
                <a:latin typeface="Geist"/>
                <a:ea typeface="Geist"/>
                <a:cs typeface="Geist"/>
                <a:sym typeface="Geist"/>
              </a:rPr>
              <a:t>Analyzing Sales, Profit &amp; Orders to gain Business Insights</a:t>
            </a:r>
            <a:endParaRPr b="0" i="0" sz="1750" u="none" cap="none" strike="noStrike"/>
          </a:p>
        </p:txBody>
      </p:sp>
      <p:sp>
        <p:nvSpPr>
          <p:cNvPr id="60" name="Google Shape;60;p13"/>
          <p:cNvSpPr/>
          <p:nvPr/>
        </p:nvSpPr>
        <p:spPr>
          <a:xfrm>
            <a:off x="12824325" y="7595400"/>
            <a:ext cx="1736700" cy="634200"/>
          </a:xfrm>
          <a:prstGeom prst="rect">
            <a:avLst/>
          </a:prstGeom>
          <a:solidFill>
            <a:srgbClr val="E0F6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66" name="Google Shape;6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69680" y="0"/>
            <a:ext cx="5760720" cy="8233410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4"/>
          <p:cNvSpPr/>
          <p:nvPr/>
        </p:nvSpPr>
        <p:spPr>
          <a:xfrm>
            <a:off x="773073" y="607457"/>
            <a:ext cx="5522357" cy="6902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006747"/>
              </a:buClr>
              <a:buSzPts val="4300"/>
              <a:buFont typeface="Arial"/>
              <a:buNone/>
            </a:pPr>
            <a:r>
              <a:rPr b="1" i="0" lang="en-US" sz="4300" u="none" cap="none" strike="noStrike">
                <a:solidFill>
                  <a:srgbClr val="006747"/>
                </a:solidFill>
                <a:latin typeface="Arial"/>
                <a:ea typeface="Arial"/>
                <a:cs typeface="Arial"/>
                <a:sym typeface="Arial"/>
              </a:rPr>
              <a:t>Project Objectives</a:t>
            </a:r>
            <a:endParaRPr b="0" i="0" sz="4300" u="none" cap="none" strike="noStrike"/>
          </a:p>
        </p:txBody>
      </p:sp>
      <p:sp>
        <p:nvSpPr>
          <p:cNvPr id="68" name="Google Shape;68;p14"/>
          <p:cNvSpPr/>
          <p:nvPr/>
        </p:nvSpPr>
        <p:spPr>
          <a:xfrm>
            <a:off x="773073" y="1628894"/>
            <a:ext cx="7597854" cy="1333619"/>
          </a:xfrm>
          <a:prstGeom prst="roundRect">
            <a:avLst>
              <a:gd fmla="val 10970" name="adj"/>
            </a:avLst>
          </a:prstGeom>
          <a:solidFill>
            <a:srgbClr val="E5F9F2">
              <a:alpha val="94901"/>
            </a:srgbClr>
          </a:solidFill>
          <a:ln cap="flat" cmpd="sng" w="30475">
            <a:solidFill>
              <a:srgbClr val="B7D5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4"/>
          <p:cNvSpPr/>
          <p:nvPr/>
        </p:nvSpPr>
        <p:spPr>
          <a:xfrm>
            <a:off x="742593" y="1628894"/>
            <a:ext cx="121920" cy="1333619"/>
          </a:xfrm>
          <a:prstGeom prst="roundRect">
            <a:avLst>
              <a:gd fmla="val 163064" name="adj"/>
            </a:avLst>
          </a:prstGeom>
          <a:solidFill>
            <a:srgbClr val="0067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4"/>
          <p:cNvSpPr/>
          <p:nvPr/>
        </p:nvSpPr>
        <p:spPr>
          <a:xfrm>
            <a:off x="1115854" y="1880235"/>
            <a:ext cx="2761178" cy="3450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4B4A4A"/>
              </a:buClr>
              <a:buSzPts val="2150"/>
              <a:buFont typeface="Arial"/>
              <a:buNone/>
            </a:pPr>
            <a:r>
              <a:rPr b="1" i="0" lang="en-US" sz="2150" u="none" cap="none" strike="noStrike">
                <a:solidFill>
                  <a:srgbClr val="4B4A4A"/>
                </a:solidFill>
                <a:latin typeface="Arial"/>
                <a:ea typeface="Arial"/>
                <a:cs typeface="Arial"/>
                <a:sym typeface="Arial"/>
              </a:rPr>
              <a:t>Extract Insights</a:t>
            </a:r>
            <a:endParaRPr b="0" i="0" sz="2150" u="none" cap="none" strike="noStrike"/>
          </a:p>
        </p:txBody>
      </p:sp>
      <p:sp>
        <p:nvSpPr>
          <p:cNvPr id="71" name="Google Shape;71;p14"/>
          <p:cNvSpPr/>
          <p:nvPr/>
        </p:nvSpPr>
        <p:spPr>
          <a:xfrm>
            <a:off x="1115854" y="2357795"/>
            <a:ext cx="7003733" cy="3533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764"/>
              </a:lnSpc>
              <a:spcBef>
                <a:spcPts val="0"/>
              </a:spcBef>
              <a:spcAft>
                <a:spcPts val="0"/>
              </a:spcAft>
              <a:buClr>
                <a:srgbClr val="4B4A4A"/>
              </a:buClr>
              <a:buSzPts val="1700"/>
              <a:buFont typeface="Geist"/>
              <a:buNone/>
            </a:pPr>
            <a:r>
              <a:rPr b="0" i="0" lang="en-US" sz="1700" u="none" cap="none" strike="noStrike">
                <a:solidFill>
                  <a:srgbClr val="4B4A4A"/>
                </a:solidFill>
                <a:latin typeface="Geist"/>
                <a:ea typeface="Geist"/>
                <a:cs typeface="Geist"/>
                <a:sym typeface="Geist"/>
              </a:rPr>
              <a:t>Analyze sales data to uncover meaningful patterns.</a:t>
            </a:r>
            <a:endParaRPr b="0" i="0" sz="1700" u="none" cap="none" strike="noStrike"/>
          </a:p>
        </p:txBody>
      </p:sp>
      <p:sp>
        <p:nvSpPr>
          <p:cNvPr id="72" name="Google Shape;72;p14"/>
          <p:cNvSpPr/>
          <p:nvPr/>
        </p:nvSpPr>
        <p:spPr>
          <a:xfrm>
            <a:off x="773073" y="3183374"/>
            <a:ext cx="7597854" cy="1333619"/>
          </a:xfrm>
          <a:prstGeom prst="roundRect">
            <a:avLst>
              <a:gd fmla="val 10970" name="adj"/>
            </a:avLst>
          </a:prstGeom>
          <a:solidFill>
            <a:srgbClr val="E5F9F2">
              <a:alpha val="94901"/>
            </a:srgbClr>
          </a:solidFill>
          <a:ln cap="flat" cmpd="sng" w="30475">
            <a:solidFill>
              <a:srgbClr val="B7D5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4"/>
          <p:cNvSpPr/>
          <p:nvPr/>
        </p:nvSpPr>
        <p:spPr>
          <a:xfrm>
            <a:off x="742593" y="3183374"/>
            <a:ext cx="121920" cy="1333619"/>
          </a:xfrm>
          <a:prstGeom prst="roundRect">
            <a:avLst>
              <a:gd fmla="val 163064" name="adj"/>
            </a:avLst>
          </a:prstGeom>
          <a:solidFill>
            <a:srgbClr val="0067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4"/>
          <p:cNvSpPr/>
          <p:nvPr/>
        </p:nvSpPr>
        <p:spPr>
          <a:xfrm>
            <a:off x="1115854" y="3434715"/>
            <a:ext cx="2761178" cy="3450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4B4A4A"/>
              </a:buClr>
              <a:buSzPts val="2150"/>
              <a:buFont typeface="Arial"/>
              <a:buNone/>
            </a:pPr>
            <a:r>
              <a:rPr b="1" i="0" lang="en-US" sz="2150" u="none" cap="none" strike="noStrike">
                <a:solidFill>
                  <a:srgbClr val="4B4A4A"/>
                </a:solidFill>
                <a:latin typeface="Arial"/>
                <a:ea typeface="Arial"/>
                <a:cs typeface="Arial"/>
                <a:sym typeface="Arial"/>
              </a:rPr>
              <a:t>Understand Trends</a:t>
            </a:r>
            <a:endParaRPr b="0" i="0" sz="2150" u="none" cap="none" strike="noStrike"/>
          </a:p>
        </p:txBody>
      </p:sp>
      <p:sp>
        <p:nvSpPr>
          <p:cNvPr id="75" name="Google Shape;75;p14"/>
          <p:cNvSpPr/>
          <p:nvPr/>
        </p:nvSpPr>
        <p:spPr>
          <a:xfrm>
            <a:off x="1115854" y="3912275"/>
            <a:ext cx="7003733" cy="3533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764"/>
              </a:lnSpc>
              <a:spcBef>
                <a:spcPts val="0"/>
              </a:spcBef>
              <a:spcAft>
                <a:spcPts val="0"/>
              </a:spcAft>
              <a:buClr>
                <a:srgbClr val="4B4A4A"/>
              </a:buClr>
              <a:buSzPts val="1700"/>
              <a:buFont typeface="Geist"/>
              <a:buNone/>
            </a:pPr>
            <a:r>
              <a:rPr b="0" i="0" lang="en-US" sz="1700" u="none" cap="none" strike="noStrike">
                <a:solidFill>
                  <a:srgbClr val="4B4A4A"/>
                </a:solidFill>
                <a:latin typeface="Geist"/>
                <a:ea typeface="Geist"/>
                <a:cs typeface="Geist"/>
                <a:sym typeface="Geist"/>
              </a:rPr>
              <a:t>Identify performance trajectories and seasonal variations.</a:t>
            </a:r>
            <a:endParaRPr b="0" i="0" sz="1700" u="none" cap="none" strike="noStrike"/>
          </a:p>
        </p:txBody>
      </p:sp>
      <p:sp>
        <p:nvSpPr>
          <p:cNvPr id="76" name="Google Shape;76;p14"/>
          <p:cNvSpPr/>
          <p:nvPr/>
        </p:nvSpPr>
        <p:spPr>
          <a:xfrm>
            <a:off x="773073" y="4737854"/>
            <a:ext cx="7597854" cy="1333619"/>
          </a:xfrm>
          <a:prstGeom prst="roundRect">
            <a:avLst>
              <a:gd fmla="val 10970" name="adj"/>
            </a:avLst>
          </a:prstGeom>
          <a:solidFill>
            <a:srgbClr val="E5F9F2">
              <a:alpha val="94901"/>
            </a:srgbClr>
          </a:solidFill>
          <a:ln cap="flat" cmpd="sng" w="30475">
            <a:solidFill>
              <a:srgbClr val="B7D5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14"/>
          <p:cNvSpPr/>
          <p:nvPr/>
        </p:nvSpPr>
        <p:spPr>
          <a:xfrm>
            <a:off x="742593" y="4737854"/>
            <a:ext cx="121920" cy="1333619"/>
          </a:xfrm>
          <a:prstGeom prst="roundRect">
            <a:avLst>
              <a:gd fmla="val 163064" name="adj"/>
            </a:avLst>
          </a:prstGeom>
          <a:solidFill>
            <a:srgbClr val="0067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4"/>
          <p:cNvSpPr/>
          <p:nvPr/>
        </p:nvSpPr>
        <p:spPr>
          <a:xfrm>
            <a:off x="1115854" y="4989195"/>
            <a:ext cx="2892981" cy="3450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4B4A4A"/>
              </a:buClr>
              <a:buSzPts val="2150"/>
              <a:buFont typeface="Arial"/>
              <a:buNone/>
            </a:pPr>
            <a:r>
              <a:rPr b="1" i="0" lang="en-US" sz="2150" u="none" cap="none" strike="noStrike">
                <a:solidFill>
                  <a:srgbClr val="4B4A4A"/>
                </a:solidFill>
                <a:latin typeface="Arial"/>
                <a:ea typeface="Arial"/>
                <a:cs typeface="Arial"/>
                <a:sym typeface="Arial"/>
              </a:rPr>
              <a:t>Spot Top Performers</a:t>
            </a:r>
            <a:endParaRPr b="0" i="0" sz="2150" u="none" cap="none" strike="noStrike"/>
          </a:p>
        </p:txBody>
      </p:sp>
      <p:sp>
        <p:nvSpPr>
          <p:cNvPr id="79" name="Google Shape;79;p14"/>
          <p:cNvSpPr/>
          <p:nvPr/>
        </p:nvSpPr>
        <p:spPr>
          <a:xfrm>
            <a:off x="1115854" y="5466755"/>
            <a:ext cx="7003733" cy="3533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764"/>
              </a:lnSpc>
              <a:spcBef>
                <a:spcPts val="0"/>
              </a:spcBef>
              <a:spcAft>
                <a:spcPts val="0"/>
              </a:spcAft>
              <a:buClr>
                <a:srgbClr val="4B4A4A"/>
              </a:buClr>
              <a:buSzPts val="1700"/>
              <a:buFont typeface="Geist"/>
              <a:buNone/>
            </a:pPr>
            <a:r>
              <a:rPr b="0" i="0" lang="en-US" sz="1700" u="none" cap="none" strike="noStrike">
                <a:solidFill>
                  <a:srgbClr val="4B4A4A"/>
                </a:solidFill>
                <a:latin typeface="Geist"/>
                <a:ea typeface="Geist"/>
                <a:cs typeface="Geist"/>
                <a:sym typeface="Geist"/>
              </a:rPr>
              <a:t>Pinpoint leading categories, regions, and products.</a:t>
            </a:r>
            <a:endParaRPr b="0" i="0" sz="1700" u="none" cap="none" strike="noStrike"/>
          </a:p>
        </p:txBody>
      </p:sp>
      <p:sp>
        <p:nvSpPr>
          <p:cNvPr id="80" name="Google Shape;80;p14"/>
          <p:cNvSpPr/>
          <p:nvPr/>
        </p:nvSpPr>
        <p:spPr>
          <a:xfrm>
            <a:off x="773073" y="6292334"/>
            <a:ext cx="7597854" cy="1333619"/>
          </a:xfrm>
          <a:prstGeom prst="roundRect">
            <a:avLst>
              <a:gd fmla="val 10970" name="adj"/>
            </a:avLst>
          </a:prstGeom>
          <a:solidFill>
            <a:srgbClr val="E5F9F2">
              <a:alpha val="94901"/>
            </a:srgbClr>
          </a:solidFill>
          <a:ln cap="flat" cmpd="sng" w="30475">
            <a:solidFill>
              <a:srgbClr val="B7D5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4"/>
          <p:cNvSpPr/>
          <p:nvPr/>
        </p:nvSpPr>
        <p:spPr>
          <a:xfrm>
            <a:off x="742593" y="6292334"/>
            <a:ext cx="121920" cy="1333619"/>
          </a:xfrm>
          <a:prstGeom prst="roundRect">
            <a:avLst>
              <a:gd fmla="val 163064" name="adj"/>
            </a:avLst>
          </a:prstGeom>
          <a:solidFill>
            <a:srgbClr val="0067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4"/>
          <p:cNvSpPr/>
          <p:nvPr/>
        </p:nvSpPr>
        <p:spPr>
          <a:xfrm>
            <a:off x="1115854" y="6543675"/>
            <a:ext cx="2761178" cy="3450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4B4A4A"/>
              </a:buClr>
              <a:buSzPts val="2150"/>
              <a:buFont typeface="Arial"/>
              <a:buNone/>
            </a:pPr>
            <a:r>
              <a:rPr b="1" i="0" lang="en-US" sz="2150" u="none" cap="none" strike="noStrike">
                <a:solidFill>
                  <a:srgbClr val="4B4A4A"/>
                </a:solidFill>
                <a:latin typeface="Arial"/>
                <a:ea typeface="Arial"/>
                <a:cs typeface="Arial"/>
                <a:sym typeface="Arial"/>
              </a:rPr>
              <a:t>Support Decisions</a:t>
            </a:r>
            <a:endParaRPr b="0" i="0" sz="2150" u="none" cap="none" strike="noStrike"/>
          </a:p>
        </p:txBody>
      </p:sp>
      <p:sp>
        <p:nvSpPr>
          <p:cNvPr id="83" name="Google Shape;83;p14"/>
          <p:cNvSpPr/>
          <p:nvPr/>
        </p:nvSpPr>
        <p:spPr>
          <a:xfrm>
            <a:off x="1115854" y="7021235"/>
            <a:ext cx="7003733" cy="3533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764"/>
              </a:lnSpc>
              <a:spcBef>
                <a:spcPts val="0"/>
              </a:spcBef>
              <a:spcAft>
                <a:spcPts val="0"/>
              </a:spcAft>
              <a:buClr>
                <a:srgbClr val="4B4A4A"/>
              </a:buClr>
              <a:buSzPts val="1700"/>
              <a:buFont typeface="Geist"/>
              <a:buNone/>
            </a:pPr>
            <a:r>
              <a:rPr b="0" i="0" lang="en-US" sz="1700" u="none" cap="none" strike="noStrike">
                <a:solidFill>
                  <a:srgbClr val="4B4A4A"/>
                </a:solidFill>
                <a:latin typeface="Geist"/>
                <a:ea typeface="Geist"/>
                <a:cs typeface="Geist"/>
                <a:sym typeface="Geist"/>
              </a:rPr>
              <a:t>Empower business choices with data visualization.</a:t>
            </a:r>
            <a:endParaRPr b="0" i="0" sz="1700" u="none" cap="none" strike="noStrike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5" title="Screenshot 2025-12-21 14180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17782" y="0"/>
            <a:ext cx="14748181" cy="83189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16" title="Screenshot 2025-12-21 141801.png"/>
          <p:cNvPicPr preferRelativeResize="0"/>
          <p:nvPr/>
        </p:nvPicPr>
        <p:blipFill rotWithShape="1">
          <a:blip r:embed="rId3">
            <a:alphaModFix/>
          </a:blip>
          <a:srcRect b="47826" l="0" r="76187" t="17504"/>
          <a:stretch/>
        </p:blipFill>
        <p:spPr>
          <a:xfrm>
            <a:off x="96975" y="1688400"/>
            <a:ext cx="5398449" cy="4433449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6"/>
          <p:cNvSpPr txBox="1"/>
          <p:nvPr/>
        </p:nvSpPr>
        <p:spPr>
          <a:xfrm>
            <a:off x="7023325" y="1097275"/>
            <a:ext cx="7644000" cy="449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0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Sales by Category</a:t>
            </a:r>
            <a:endParaRPr b="1" sz="30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937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600"/>
              <a:buChar char="●"/>
            </a:pPr>
            <a:r>
              <a:rPr b="1" lang="en-US" sz="2600">
                <a:solidFill>
                  <a:schemeClr val="dk1"/>
                </a:solidFill>
              </a:rPr>
              <a:t>Chart:</a:t>
            </a:r>
            <a:r>
              <a:rPr lang="en-US" sz="2600">
                <a:solidFill>
                  <a:schemeClr val="dk1"/>
                </a:solidFill>
              </a:rPr>
              <a:t> Bar chart showing Technology, Furniture, Office Supplies</a:t>
            </a:r>
            <a:endParaRPr sz="2600">
              <a:solidFill>
                <a:schemeClr val="dk1"/>
              </a:solidFill>
            </a:endParaRPr>
          </a:p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●"/>
            </a:pPr>
            <a:r>
              <a:rPr b="1" lang="en-US" sz="2600">
                <a:solidFill>
                  <a:schemeClr val="dk1"/>
                </a:solidFill>
              </a:rPr>
              <a:t>Key Insight:</a:t>
            </a:r>
            <a:r>
              <a:rPr lang="en-US" sz="2600">
                <a:solidFill>
                  <a:schemeClr val="dk1"/>
                </a:solidFill>
              </a:rPr>
              <a:t> Technology leads in revenue, Furniture moderate, Office Supplies steady but lower</a:t>
            </a:r>
            <a:endParaRPr sz="2600">
              <a:solidFill>
                <a:schemeClr val="dk1"/>
              </a:solidFill>
            </a:endParaRPr>
          </a:p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●"/>
            </a:pPr>
            <a:r>
              <a:rPr b="1" lang="en-US" sz="2600">
                <a:solidFill>
                  <a:schemeClr val="dk1"/>
                </a:solidFill>
              </a:rPr>
              <a:t>Talking Point:</a:t>
            </a:r>
            <a:r>
              <a:rPr lang="en-US" sz="2600">
                <a:solidFill>
                  <a:schemeClr val="dk1"/>
                </a:solidFill>
              </a:rPr>
              <a:t> “Technology dominates sales, while Furniture and Office Supplies show consistent demand.”</a:t>
            </a:r>
            <a:endParaRPr sz="2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7" title="Screenshot 2025-12-21 141801.png"/>
          <p:cNvPicPr preferRelativeResize="0"/>
          <p:nvPr/>
        </p:nvPicPr>
        <p:blipFill rotWithShape="1">
          <a:blip r:embed="rId3">
            <a:alphaModFix/>
          </a:blip>
          <a:srcRect b="1043" l="67000" r="-32475" t="49044"/>
          <a:stretch/>
        </p:blipFill>
        <p:spPr>
          <a:xfrm>
            <a:off x="1038175" y="1263525"/>
            <a:ext cx="9310251" cy="4729026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7"/>
          <p:cNvSpPr txBox="1"/>
          <p:nvPr/>
        </p:nvSpPr>
        <p:spPr>
          <a:xfrm>
            <a:off x="7614414" y="1234499"/>
            <a:ext cx="6129300" cy="47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6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Top 10 Products by Sales</a:t>
            </a:r>
            <a:endParaRPr b="1" sz="36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746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b="1" lang="en-US" sz="2300">
                <a:solidFill>
                  <a:schemeClr val="dk1"/>
                </a:solidFill>
              </a:rPr>
              <a:t>Chart:</a:t>
            </a:r>
            <a:r>
              <a:rPr lang="en-US" sz="2300">
                <a:solidFill>
                  <a:schemeClr val="dk1"/>
                </a:solidFill>
              </a:rPr>
              <a:t> Bar chart ranking products by total sales revenue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b="1" lang="en-US" sz="2300">
                <a:solidFill>
                  <a:schemeClr val="dk1"/>
                </a:solidFill>
              </a:rPr>
              <a:t>Key Insight:</a:t>
            </a:r>
            <a:r>
              <a:rPr lang="en-US" sz="2300">
                <a:solidFill>
                  <a:schemeClr val="dk1"/>
                </a:solidFill>
              </a:rPr>
              <a:t> A few products contribute disproportionately higher revenue compared to others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b="1" lang="en-US" sz="2300">
                <a:solidFill>
                  <a:schemeClr val="dk1"/>
                </a:solidFill>
              </a:rPr>
              <a:t>Talking Point:</a:t>
            </a:r>
            <a:r>
              <a:rPr lang="en-US" sz="2300">
                <a:solidFill>
                  <a:schemeClr val="dk1"/>
                </a:solidFill>
              </a:rPr>
              <a:t> “These top 10 products drive the bulk of sales, highlighting where demand is concentrated.”</a:t>
            </a:r>
            <a:endParaRPr sz="2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6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18" title="Screenshot 2025-12-21 141801.png"/>
          <p:cNvPicPr preferRelativeResize="0"/>
          <p:nvPr/>
        </p:nvPicPr>
        <p:blipFill rotWithShape="1">
          <a:blip r:embed="rId3">
            <a:alphaModFix/>
          </a:blip>
          <a:srcRect b="0" l="41602" r="33254" t="51131"/>
          <a:stretch/>
        </p:blipFill>
        <p:spPr>
          <a:xfrm>
            <a:off x="1463025" y="1706875"/>
            <a:ext cx="4178674" cy="4581251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8"/>
          <p:cNvSpPr txBox="1"/>
          <p:nvPr/>
        </p:nvSpPr>
        <p:spPr>
          <a:xfrm>
            <a:off x="7004700" y="1657050"/>
            <a:ext cx="7625700" cy="46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0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Profit by Region</a:t>
            </a:r>
            <a:endParaRPr b="1" sz="30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746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b="1" lang="en-US" sz="2300">
                <a:solidFill>
                  <a:schemeClr val="dk1"/>
                </a:solidFill>
              </a:rPr>
              <a:t>Chart:</a:t>
            </a:r>
            <a:r>
              <a:rPr lang="en-US" sz="2300">
                <a:solidFill>
                  <a:schemeClr val="dk1"/>
                </a:solidFill>
              </a:rPr>
              <a:t> Bar chart comparing profit across regions (e.g., West, East, Central, South)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b="1" lang="en-US" sz="2300">
                <a:solidFill>
                  <a:schemeClr val="dk1"/>
                </a:solidFill>
              </a:rPr>
              <a:t>Key Insight:</a:t>
            </a:r>
            <a:r>
              <a:rPr lang="en-US" sz="2300">
                <a:solidFill>
                  <a:schemeClr val="dk1"/>
                </a:solidFill>
              </a:rPr>
              <a:t> Western and Eastern regions show the highest profitability, while other regions contribute moderately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b="1" lang="en-US" sz="2300">
                <a:solidFill>
                  <a:schemeClr val="dk1"/>
                </a:solidFill>
              </a:rPr>
              <a:t>Talking Point:</a:t>
            </a:r>
            <a:r>
              <a:rPr lang="en-US" sz="2300">
                <a:solidFill>
                  <a:schemeClr val="dk1"/>
                </a:solidFill>
              </a:rPr>
              <a:t> “Profitability is concentrated in the West and East, guiding where strategic focus should be applied.”</a:t>
            </a:r>
            <a:endParaRPr sz="2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6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19" title="Screenshot 2025-12-21 141801.png"/>
          <p:cNvPicPr preferRelativeResize="0"/>
          <p:nvPr/>
        </p:nvPicPr>
        <p:blipFill rotWithShape="1">
          <a:blip r:embed="rId3">
            <a:alphaModFix/>
          </a:blip>
          <a:srcRect b="0" l="746" r="58018" t="50961"/>
          <a:stretch/>
        </p:blipFill>
        <p:spPr>
          <a:xfrm>
            <a:off x="410100" y="1115775"/>
            <a:ext cx="7145801" cy="4793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9"/>
          <p:cNvSpPr txBox="1"/>
          <p:nvPr/>
        </p:nvSpPr>
        <p:spPr>
          <a:xfrm>
            <a:off x="8907550" y="1355900"/>
            <a:ext cx="5593500" cy="49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0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Distribution by State</a:t>
            </a:r>
            <a:endParaRPr b="1" sz="30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EB Garamond"/>
              <a:buChar char="●"/>
            </a:pPr>
            <a:r>
              <a:rPr lang="en-US" sz="22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Chart: Bubble Map showing sales volume across different states</a:t>
            </a:r>
            <a:endParaRPr sz="22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EB Garamond"/>
              <a:buChar char="●"/>
            </a:pPr>
            <a:r>
              <a:rPr lang="en-US" sz="22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Key Insight: States with larger bubbles represent higher sales concentration, highlighting geographic hotspots</a:t>
            </a:r>
            <a:endParaRPr sz="22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EB Garamond"/>
              <a:buChar char="●"/>
            </a:pPr>
            <a:r>
              <a:rPr lang="en-US" sz="22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Talking Point: “This map reveals sales distribution across states, helping identify regions with strong demand and potential growth opportunities.”</a:t>
            </a:r>
            <a:endParaRPr sz="22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500">
              <a:latin typeface="EB Garamond"/>
              <a:ea typeface="EB Garamond"/>
              <a:cs typeface="EB Garamond"/>
              <a:sym typeface="EB Garamon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20" title="Screenshot 2025-12-21 141801.png"/>
          <p:cNvPicPr preferRelativeResize="0"/>
          <p:nvPr/>
        </p:nvPicPr>
        <p:blipFill rotWithShape="1">
          <a:blip r:embed="rId3">
            <a:alphaModFix/>
          </a:blip>
          <a:srcRect b="71624" l="62482" r="0" t="0"/>
          <a:stretch/>
        </p:blipFill>
        <p:spPr>
          <a:xfrm>
            <a:off x="853450" y="1685825"/>
            <a:ext cx="6847674" cy="2921275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20"/>
          <p:cNvSpPr txBox="1"/>
          <p:nvPr/>
        </p:nvSpPr>
        <p:spPr>
          <a:xfrm>
            <a:off x="8815175" y="1094500"/>
            <a:ext cx="5150100" cy="47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9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Monthly Sales Trend</a:t>
            </a:r>
            <a:endParaRPr b="1" sz="29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873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b="1" lang="en-US" sz="25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Chart:</a:t>
            </a:r>
            <a:r>
              <a:rPr lang="en-US" sz="25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 Line chart showing monthly sales variation</a:t>
            </a:r>
            <a:endParaRPr sz="25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873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b="1" lang="en-US" sz="25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Key Insight:</a:t>
            </a:r>
            <a:r>
              <a:rPr lang="en-US" sz="25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 November &amp; December show peak sales, indicating strong seasonal demand</a:t>
            </a:r>
            <a:endParaRPr sz="25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873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b="1" lang="en-US" sz="25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Talking Point:</a:t>
            </a:r>
            <a:r>
              <a:rPr lang="en-US" sz="25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 “Sales rise steadily through the year, with clear spikes in the festive months.”</a:t>
            </a:r>
            <a:endParaRPr sz="25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21" title="Screenshot 2025-12-21 141801.png"/>
          <p:cNvPicPr preferRelativeResize="0"/>
          <p:nvPr/>
        </p:nvPicPr>
        <p:blipFill rotWithShape="1">
          <a:blip r:embed="rId3">
            <a:alphaModFix/>
          </a:blip>
          <a:srcRect b="47751" l="62521" r="0" t="27213"/>
          <a:stretch/>
        </p:blipFill>
        <p:spPr>
          <a:xfrm>
            <a:off x="484000" y="2387600"/>
            <a:ext cx="8383251" cy="3158849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21"/>
          <p:cNvSpPr txBox="1"/>
          <p:nvPr/>
        </p:nvSpPr>
        <p:spPr>
          <a:xfrm>
            <a:off x="9720350" y="894075"/>
            <a:ext cx="3783300" cy="71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3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Sales by Segment</a:t>
            </a:r>
            <a:endParaRPr b="1" sz="33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b="1" lang="en-US" sz="22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Chart:</a:t>
            </a:r>
            <a:r>
              <a:rPr lang="en-US" sz="22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 Donut/Pie chart showing Consumer, Corporate, and Home Office segments</a:t>
            </a:r>
            <a:endParaRPr sz="22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b="1" lang="en-US" sz="22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Key Insight:</a:t>
            </a:r>
            <a:r>
              <a:rPr lang="en-US" sz="22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 Consumer segment contributes the majority of sales, Corporate moderate, Home Office smaller share</a:t>
            </a:r>
            <a:endParaRPr sz="22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b="1" lang="en-US" sz="22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Talking Point:</a:t>
            </a:r>
            <a:r>
              <a:rPr lang="en-US" sz="22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 “Consumer sales dominate overall performance, while Corporate and Home Office provide steady contributions.”</a:t>
            </a:r>
            <a:endParaRPr sz="22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22" title="Screenshot 2025-12-21 141801.png"/>
          <p:cNvPicPr preferRelativeResize="0"/>
          <p:nvPr/>
        </p:nvPicPr>
        <p:blipFill rotWithShape="1">
          <a:blip r:embed="rId3">
            <a:alphaModFix/>
          </a:blip>
          <a:srcRect b="48155" l="23010" r="35803" t="1796"/>
          <a:stretch/>
        </p:blipFill>
        <p:spPr>
          <a:xfrm>
            <a:off x="317725" y="1965500"/>
            <a:ext cx="5470849" cy="3749976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22"/>
          <p:cNvSpPr txBox="1"/>
          <p:nvPr/>
        </p:nvSpPr>
        <p:spPr>
          <a:xfrm>
            <a:off x="7152625" y="450725"/>
            <a:ext cx="5796900" cy="65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9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KPI Cards &amp; Interactive Slicers</a:t>
            </a:r>
            <a:endParaRPr sz="29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b="1" lang="en-US" sz="2100">
                <a:solidFill>
                  <a:schemeClr val="dk1"/>
                </a:solidFill>
              </a:rPr>
              <a:t>Content:</a:t>
            </a:r>
            <a:endParaRPr b="1" sz="2100">
              <a:solidFill>
                <a:schemeClr val="dk1"/>
              </a:solidFill>
            </a:endParaRPr>
          </a:p>
          <a:p>
            <a:pPr indent="-3619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○"/>
            </a:pPr>
            <a:r>
              <a:rPr b="1" lang="en-US" sz="2100">
                <a:solidFill>
                  <a:schemeClr val="dk1"/>
                </a:solidFill>
              </a:rPr>
              <a:t>Cards:</a:t>
            </a:r>
            <a:r>
              <a:rPr lang="en-US" sz="2100">
                <a:solidFill>
                  <a:schemeClr val="dk1"/>
                </a:solidFill>
              </a:rPr>
              <a:t> Show key metrics → </a:t>
            </a:r>
            <a:r>
              <a:rPr i="1" lang="en-US" sz="2100">
                <a:solidFill>
                  <a:schemeClr val="dk1"/>
                </a:solidFill>
              </a:rPr>
              <a:t>Total Sales, Total Profit, Total Orders, Total Quantity</a:t>
            </a:r>
            <a:endParaRPr i="1" sz="2100">
              <a:solidFill>
                <a:schemeClr val="dk1"/>
              </a:solidFill>
            </a:endParaRPr>
          </a:p>
          <a:p>
            <a:pPr indent="-3619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○"/>
            </a:pPr>
            <a:r>
              <a:rPr b="1" lang="en-US" sz="2100">
                <a:solidFill>
                  <a:schemeClr val="dk1"/>
                </a:solidFill>
              </a:rPr>
              <a:t>Slicers:</a:t>
            </a:r>
            <a:r>
              <a:rPr lang="en-US" sz="2100">
                <a:solidFill>
                  <a:schemeClr val="dk1"/>
                </a:solidFill>
              </a:rPr>
              <a:t> Add interactive filters → </a:t>
            </a:r>
            <a:r>
              <a:rPr i="1" lang="en-US" sz="2100">
                <a:solidFill>
                  <a:schemeClr val="dk1"/>
                </a:solidFill>
              </a:rPr>
              <a:t>Category, </a:t>
            </a:r>
            <a:endParaRPr i="1" sz="2100">
              <a:solidFill>
                <a:schemeClr val="dk1"/>
              </a:solidFill>
            </a:endParaRPr>
          </a:p>
          <a:p>
            <a:pPr indent="-3619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○"/>
            </a:pPr>
            <a:r>
              <a:rPr b="1" lang="en-US" sz="2100">
                <a:solidFill>
                  <a:schemeClr val="dk1"/>
                </a:solidFill>
              </a:rPr>
              <a:t>Key Insight:</a:t>
            </a:r>
            <a:r>
              <a:rPr lang="en-US" sz="2100">
                <a:solidFill>
                  <a:schemeClr val="dk1"/>
                </a:solidFill>
              </a:rPr>
              <a:t> Cards give quick KPI snapshots, slicers allow dynamic filtering for deeper analysis</a:t>
            </a:r>
            <a:endParaRPr sz="2100">
              <a:solidFill>
                <a:schemeClr val="dk1"/>
              </a:solidFill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b="1" lang="en-US" sz="2100">
                <a:solidFill>
                  <a:schemeClr val="dk1"/>
                </a:solidFill>
              </a:rPr>
              <a:t>Talking Point:</a:t>
            </a:r>
            <a:r>
              <a:rPr lang="en-US" sz="2100">
                <a:solidFill>
                  <a:schemeClr val="dk1"/>
                </a:solidFill>
              </a:rPr>
              <a:t> “This slide combines high‑level KPIs with interactive slicers, enabling users to drill down into specific categories, regions, or time periods for customized insights.”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3"/>
          <p:cNvSpPr txBox="1"/>
          <p:nvPr/>
        </p:nvSpPr>
        <p:spPr>
          <a:xfrm>
            <a:off x="2043150" y="598525"/>
            <a:ext cx="10544100" cy="6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9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Data Cleaning Process</a:t>
            </a:r>
            <a:endParaRPr b="1" sz="39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5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Content (Bullet Points):</a:t>
            </a:r>
            <a:endParaRPr b="1" sz="25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873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EB Garamond"/>
              <a:buChar char="●"/>
            </a:pPr>
            <a:r>
              <a:rPr lang="en-US" sz="25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Removed blank and duplicate records</a:t>
            </a:r>
            <a:endParaRPr sz="25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873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EB Garamond"/>
              <a:buChar char="●"/>
            </a:pPr>
            <a:r>
              <a:rPr lang="en-US" sz="25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Handled missing values (nulls)</a:t>
            </a:r>
            <a:endParaRPr sz="25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873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EB Garamond"/>
              <a:buChar char="●"/>
            </a:pPr>
            <a:r>
              <a:rPr lang="en-US" sz="25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Verified numerical fields (Sales, Profit, Quantity)</a:t>
            </a:r>
            <a:endParaRPr sz="25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873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EB Garamond"/>
              <a:buChar char="●"/>
            </a:pPr>
            <a:r>
              <a:rPr lang="en-US" sz="25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Standardized column names for consistency</a:t>
            </a:r>
            <a:endParaRPr sz="25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873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EB Garamond"/>
              <a:buChar char="●"/>
            </a:pPr>
            <a:r>
              <a:rPr lang="en-US" sz="25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Dropped irrelevant attributes to streamline analysis</a:t>
            </a:r>
            <a:endParaRPr sz="25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873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EB Garamond"/>
              <a:buChar char="●"/>
            </a:pPr>
            <a:r>
              <a:rPr lang="en-US" sz="25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Ensured date formats were uniform for time‑series analysis</a:t>
            </a:r>
            <a:endParaRPr sz="25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Key Insight / Talking Point:</a:t>
            </a:r>
            <a:r>
              <a:rPr lang="en-US" sz="25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  </a:t>
            </a:r>
            <a:endParaRPr sz="25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5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“Cleaning in Google Colab using Python ensured the dataset was accurate, consistent, and ready for Power BI visualization.”</a:t>
            </a:r>
            <a:endParaRPr sz="25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EB Garamond"/>
              <a:ea typeface="EB Garamond"/>
              <a:cs typeface="EB Garamond"/>
              <a:sym typeface="EB Garamond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4"/>
          <p:cNvSpPr/>
          <p:nvPr/>
        </p:nvSpPr>
        <p:spPr>
          <a:xfrm>
            <a:off x="721638" y="566976"/>
            <a:ext cx="5155168" cy="6443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691"/>
              </a:lnSpc>
              <a:spcBef>
                <a:spcPts val="0"/>
              </a:spcBef>
              <a:spcAft>
                <a:spcPts val="0"/>
              </a:spcAft>
              <a:buClr>
                <a:srgbClr val="006747"/>
              </a:buClr>
              <a:buSzPts val="4050"/>
              <a:buFont typeface="Arial"/>
              <a:buNone/>
            </a:pPr>
            <a:r>
              <a:rPr b="1" i="0" lang="en-US" sz="4050" u="none" cap="none" strike="noStrike">
                <a:solidFill>
                  <a:srgbClr val="006747"/>
                </a:solidFill>
                <a:latin typeface="Arial"/>
                <a:ea typeface="Arial"/>
                <a:cs typeface="Arial"/>
                <a:sym typeface="Arial"/>
              </a:rPr>
              <a:t>Dataset &amp; Tools</a:t>
            </a:r>
            <a:endParaRPr b="0" i="0" sz="4050" u="none" cap="none" strike="noStrike"/>
          </a:p>
        </p:txBody>
      </p:sp>
      <p:sp>
        <p:nvSpPr>
          <p:cNvPr id="151" name="Google Shape;151;p24"/>
          <p:cNvSpPr/>
          <p:nvPr/>
        </p:nvSpPr>
        <p:spPr>
          <a:xfrm>
            <a:off x="721638" y="1726644"/>
            <a:ext cx="3105745" cy="38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6747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6747"/>
                </a:solidFill>
                <a:latin typeface="Arial"/>
                <a:ea typeface="Arial"/>
                <a:cs typeface="Arial"/>
                <a:sym typeface="Arial"/>
              </a:rPr>
              <a:t>Dataset Description</a:t>
            </a:r>
            <a:endParaRPr b="0" i="0" sz="2400" u="none" cap="none" strike="noStrike"/>
          </a:p>
        </p:txBody>
      </p:sp>
      <p:sp>
        <p:nvSpPr>
          <p:cNvPr id="152" name="Google Shape;152;p24"/>
          <p:cNvSpPr/>
          <p:nvPr/>
        </p:nvSpPr>
        <p:spPr>
          <a:xfrm>
            <a:off x="721638" y="2319338"/>
            <a:ext cx="6342102" cy="3299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4B4A4A"/>
              </a:buClr>
              <a:buSzPts val="1600"/>
              <a:buFont typeface="Geist"/>
              <a:buNone/>
            </a:pPr>
            <a:r>
              <a:rPr b="0" i="0" lang="en-US" sz="1600" u="none" cap="none" strike="noStrike">
                <a:solidFill>
                  <a:srgbClr val="4B4A4A"/>
                </a:solidFill>
                <a:latin typeface="Geist"/>
                <a:ea typeface="Geist"/>
                <a:cs typeface="Geist"/>
                <a:sym typeface="Geist"/>
              </a:rPr>
              <a:t>Our analysis utilizes the </a:t>
            </a:r>
            <a:r>
              <a:rPr b="1" i="0" lang="en-US" sz="1600" u="none" cap="none" strike="noStrike">
                <a:solidFill>
                  <a:srgbClr val="4B4A4A"/>
                </a:solidFill>
                <a:latin typeface="Geist"/>
                <a:ea typeface="Geist"/>
                <a:cs typeface="Geist"/>
                <a:sym typeface="Geist"/>
              </a:rPr>
              <a:t>Superstore / Retail Sales Data</a:t>
            </a:r>
            <a:r>
              <a:rPr b="0" i="0" lang="en-US" sz="1600" u="none" cap="none" strike="noStrike">
                <a:solidFill>
                  <a:srgbClr val="4B4A4A"/>
                </a:solidFill>
                <a:latin typeface="Geist"/>
                <a:ea typeface="Geist"/>
                <a:cs typeface="Geist"/>
                <a:sym typeface="Geist"/>
              </a:rPr>
              <a:t>.</a:t>
            </a:r>
            <a:endParaRPr b="0" i="0" sz="1600" u="none" cap="none" strike="noStrike"/>
          </a:p>
        </p:txBody>
      </p:sp>
      <p:sp>
        <p:nvSpPr>
          <p:cNvPr id="153" name="Google Shape;153;p24"/>
          <p:cNvSpPr/>
          <p:nvPr/>
        </p:nvSpPr>
        <p:spPr>
          <a:xfrm>
            <a:off x="721638" y="2834759"/>
            <a:ext cx="6342102" cy="6598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4B4A4A"/>
              </a:buClr>
              <a:buSzPts val="1600"/>
              <a:buFont typeface="Geist"/>
              <a:buChar char="•"/>
            </a:pPr>
            <a:r>
              <a:rPr b="0" i="0" lang="en-US" sz="1600" u="none" cap="none" strike="noStrike">
                <a:solidFill>
                  <a:srgbClr val="4B4A4A"/>
                </a:solidFill>
                <a:latin typeface="Geist"/>
                <a:ea typeface="Geist"/>
                <a:cs typeface="Geist"/>
                <a:sym typeface="Geist"/>
              </a:rPr>
              <a:t>Includes: Orders, Sales, Profit, Quantity, Customers, Regions, Categories &amp; Products.</a:t>
            </a:r>
            <a:endParaRPr b="0" i="0" sz="1600" u="none" cap="none" strike="noStrike"/>
          </a:p>
        </p:txBody>
      </p:sp>
      <p:sp>
        <p:nvSpPr>
          <p:cNvPr id="154" name="Google Shape;154;p24"/>
          <p:cNvSpPr/>
          <p:nvPr/>
        </p:nvSpPr>
        <p:spPr>
          <a:xfrm>
            <a:off x="721638" y="3700701"/>
            <a:ext cx="3093006" cy="38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6747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6747"/>
                </a:solidFill>
                <a:latin typeface="Arial"/>
                <a:ea typeface="Arial"/>
                <a:cs typeface="Arial"/>
                <a:sym typeface="Arial"/>
              </a:rPr>
              <a:t>Data Preparation</a:t>
            </a:r>
            <a:endParaRPr b="0" i="0" sz="2400" u="none" cap="none" strike="noStrike"/>
          </a:p>
        </p:txBody>
      </p:sp>
      <p:sp>
        <p:nvSpPr>
          <p:cNvPr id="155" name="Google Shape;155;p24"/>
          <p:cNvSpPr/>
          <p:nvPr/>
        </p:nvSpPr>
        <p:spPr>
          <a:xfrm>
            <a:off x="721638" y="4293394"/>
            <a:ext cx="6342102" cy="3299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4B4A4A"/>
              </a:buClr>
              <a:buSzPts val="1600"/>
              <a:buFont typeface="Geist"/>
              <a:buNone/>
            </a:pPr>
            <a:r>
              <a:rPr b="0" i="0" lang="en-US" sz="1600" u="none" cap="none" strike="noStrike">
                <a:solidFill>
                  <a:srgbClr val="4B4A4A"/>
                </a:solidFill>
                <a:latin typeface="Geist"/>
                <a:ea typeface="Geist"/>
                <a:cs typeface="Geist"/>
                <a:sym typeface="Geist"/>
              </a:rPr>
              <a:t>Data cleaning performed using </a:t>
            </a:r>
            <a:r>
              <a:rPr b="1" i="0" lang="en-US" sz="1600" u="none" cap="none" strike="noStrike">
                <a:solidFill>
                  <a:srgbClr val="4B4A4A"/>
                </a:solidFill>
                <a:latin typeface="Geist"/>
                <a:ea typeface="Geist"/>
                <a:cs typeface="Geist"/>
                <a:sym typeface="Geist"/>
              </a:rPr>
              <a:t>Python</a:t>
            </a:r>
            <a:r>
              <a:rPr b="0" i="0" lang="en-US" sz="1600" u="none" cap="none" strike="noStrike">
                <a:solidFill>
                  <a:srgbClr val="4B4A4A"/>
                </a:solidFill>
                <a:latin typeface="Geist"/>
                <a:ea typeface="Geist"/>
                <a:cs typeface="Geist"/>
                <a:sym typeface="Geist"/>
              </a:rPr>
              <a:t>.</a:t>
            </a:r>
            <a:endParaRPr b="0" i="0" sz="1600" u="none" cap="none" strike="noStrike"/>
          </a:p>
        </p:txBody>
      </p:sp>
      <p:sp>
        <p:nvSpPr>
          <p:cNvPr id="156" name="Google Shape;156;p24"/>
          <p:cNvSpPr/>
          <p:nvPr/>
        </p:nvSpPr>
        <p:spPr>
          <a:xfrm>
            <a:off x="721638" y="4829413"/>
            <a:ext cx="3093006" cy="38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6747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6747"/>
                </a:solidFill>
                <a:latin typeface="Arial"/>
                <a:ea typeface="Arial"/>
                <a:cs typeface="Arial"/>
                <a:sym typeface="Arial"/>
              </a:rPr>
              <a:t>Visualization Tool</a:t>
            </a:r>
            <a:endParaRPr b="0" i="0" sz="2400" u="none" cap="none" strike="noStrike"/>
          </a:p>
        </p:txBody>
      </p:sp>
      <p:sp>
        <p:nvSpPr>
          <p:cNvPr id="157" name="Google Shape;157;p24"/>
          <p:cNvSpPr/>
          <p:nvPr/>
        </p:nvSpPr>
        <p:spPr>
          <a:xfrm>
            <a:off x="721638" y="5422106"/>
            <a:ext cx="6342102" cy="3299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4B4A4A"/>
              </a:buClr>
              <a:buSzPts val="1600"/>
              <a:buFont typeface="Geist"/>
              <a:buNone/>
            </a:pPr>
            <a:r>
              <a:rPr b="0" i="0" lang="en-US" sz="1600" u="none" cap="none" strike="noStrike">
                <a:solidFill>
                  <a:srgbClr val="4B4A4A"/>
                </a:solidFill>
                <a:latin typeface="Geist"/>
                <a:ea typeface="Geist"/>
                <a:cs typeface="Geist"/>
                <a:sym typeface="Geist"/>
              </a:rPr>
              <a:t>All visualizations developed in </a:t>
            </a:r>
            <a:r>
              <a:rPr b="1" i="0" lang="en-US" sz="1600" u="none" cap="none" strike="noStrike">
                <a:solidFill>
                  <a:srgbClr val="4B4A4A"/>
                </a:solidFill>
                <a:latin typeface="Geist"/>
                <a:ea typeface="Geist"/>
                <a:cs typeface="Geist"/>
                <a:sym typeface="Geist"/>
              </a:rPr>
              <a:t>Power BI</a:t>
            </a:r>
            <a:r>
              <a:rPr b="0" i="0" lang="en-US" sz="1600" u="none" cap="none" strike="noStrike">
                <a:solidFill>
                  <a:srgbClr val="4B4A4A"/>
                </a:solidFill>
                <a:latin typeface="Geist"/>
                <a:ea typeface="Geist"/>
                <a:cs typeface="Geist"/>
                <a:sym typeface="Geist"/>
              </a:rPr>
              <a:t>.</a:t>
            </a:r>
            <a:endParaRPr b="0" i="0" sz="1600" u="none" cap="none" strike="noStrike"/>
          </a:p>
        </p:txBody>
      </p:sp>
      <p:pic>
        <p:nvPicPr>
          <p:cNvPr descr="preencoded.png" id="158" name="Google Shape;15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74280" y="851556"/>
            <a:ext cx="6342103" cy="6342103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24"/>
          <p:cNvSpPr/>
          <p:nvPr/>
        </p:nvSpPr>
        <p:spPr>
          <a:xfrm>
            <a:off x="12824325" y="7595400"/>
            <a:ext cx="1736700" cy="634200"/>
          </a:xfrm>
          <a:prstGeom prst="rect">
            <a:avLst/>
          </a:prstGeom>
          <a:solidFill>
            <a:srgbClr val="E0F6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65" name="Google Shape;16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76072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5"/>
          <p:cNvSpPr/>
          <p:nvPr/>
        </p:nvSpPr>
        <p:spPr>
          <a:xfrm>
            <a:off x="6220420" y="744855"/>
            <a:ext cx="7675959" cy="13108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609"/>
              </a:lnSpc>
              <a:spcBef>
                <a:spcPts val="0"/>
              </a:spcBef>
              <a:spcAft>
                <a:spcPts val="0"/>
              </a:spcAft>
              <a:buClr>
                <a:srgbClr val="006747"/>
              </a:buClr>
              <a:buSzPts val="4100"/>
              <a:buFont typeface="Arial"/>
              <a:buNone/>
            </a:pPr>
            <a:r>
              <a:rPr b="1" i="0" lang="en-US" sz="4100" u="none" cap="none" strike="noStrike">
                <a:solidFill>
                  <a:srgbClr val="006747"/>
                </a:solidFill>
                <a:latin typeface="Arial"/>
                <a:ea typeface="Arial"/>
                <a:cs typeface="Arial"/>
                <a:sym typeface="Arial"/>
              </a:rPr>
              <a:t>Key Performance Indicators (KPIs)</a:t>
            </a:r>
            <a:endParaRPr b="0" i="0" sz="4100" u="none" cap="none" strike="noStrike"/>
          </a:p>
        </p:txBody>
      </p:sp>
      <p:sp>
        <p:nvSpPr>
          <p:cNvPr id="167" name="Google Shape;167;p25"/>
          <p:cNvSpPr/>
          <p:nvPr/>
        </p:nvSpPr>
        <p:spPr>
          <a:xfrm>
            <a:off x="6220420" y="2475071"/>
            <a:ext cx="2383869" cy="6921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4A4A"/>
              </a:buClr>
              <a:buSzPts val="5400"/>
              <a:buFont typeface="Arial"/>
              <a:buNone/>
            </a:pPr>
            <a:r>
              <a:rPr b="1" i="0" lang="en-US" sz="5400" u="none" cap="none" strike="noStrike">
                <a:solidFill>
                  <a:srgbClr val="4B4A4A"/>
                </a:solidFill>
                <a:latin typeface="Arial"/>
                <a:ea typeface="Arial"/>
                <a:cs typeface="Arial"/>
                <a:sym typeface="Arial"/>
              </a:rPr>
              <a:t>$$</a:t>
            </a:r>
            <a:endParaRPr b="0" i="0" sz="5400" u="none" cap="none" strike="noStrike"/>
          </a:p>
        </p:txBody>
      </p:sp>
      <p:sp>
        <p:nvSpPr>
          <p:cNvPr id="168" name="Google Shape;168;p25"/>
          <p:cNvSpPr/>
          <p:nvPr/>
        </p:nvSpPr>
        <p:spPr>
          <a:xfrm>
            <a:off x="6220420" y="3429238"/>
            <a:ext cx="2383869" cy="327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4B4A4A"/>
              </a:buClr>
              <a:buSzPts val="2050"/>
              <a:buFont typeface="Arial"/>
              <a:buNone/>
            </a:pPr>
            <a:r>
              <a:rPr b="1" i="0" lang="en-US" sz="2050" u="none" cap="none" strike="noStrike">
                <a:solidFill>
                  <a:srgbClr val="4B4A4A"/>
                </a:solidFill>
                <a:latin typeface="Arial"/>
                <a:ea typeface="Arial"/>
                <a:cs typeface="Arial"/>
                <a:sym typeface="Arial"/>
              </a:rPr>
              <a:t>Total Sales</a:t>
            </a:r>
            <a:endParaRPr b="0" i="0" sz="2050" u="none" cap="none" strike="noStrike"/>
          </a:p>
        </p:txBody>
      </p:sp>
      <p:sp>
        <p:nvSpPr>
          <p:cNvPr id="169" name="Google Shape;169;p25"/>
          <p:cNvSpPr/>
          <p:nvPr/>
        </p:nvSpPr>
        <p:spPr>
          <a:xfrm>
            <a:off x="6220420" y="3882628"/>
            <a:ext cx="2383869" cy="6712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Clr>
                <a:srgbClr val="4B4A4A"/>
              </a:buClr>
              <a:buSzPts val="1650"/>
              <a:buFont typeface="Geist"/>
              <a:buNone/>
            </a:pPr>
            <a:r>
              <a:rPr b="0" i="0" lang="en-US" sz="1650" u="none" cap="none" strike="noStrike">
                <a:solidFill>
                  <a:srgbClr val="4B4A4A"/>
                </a:solidFill>
                <a:latin typeface="Geist"/>
                <a:ea typeface="Geist"/>
                <a:cs typeface="Geist"/>
                <a:sym typeface="Geist"/>
              </a:rPr>
              <a:t>Overall revenue generated.</a:t>
            </a:r>
            <a:endParaRPr b="0" i="0" sz="1650" u="none" cap="none" strike="noStrike"/>
          </a:p>
        </p:txBody>
      </p:sp>
      <p:sp>
        <p:nvSpPr>
          <p:cNvPr id="170" name="Google Shape;170;p25"/>
          <p:cNvSpPr/>
          <p:nvPr/>
        </p:nvSpPr>
        <p:spPr>
          <a:xfrm>
            <a:off x="8866346" y="2475071"/>
            <a:ext cx="2383988" cy="6921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4A4A"/>
              </a:buClr>
              <a:buSzPts val="5400"/>
              <a:buFont typeface="Arial"/>
              <a:buNone/>
            </a:pPr>
            <a:r>
              <a:rPr b="1" i="0" lang="en-US" sz="5400" u="none" cap="none" strike="noStrike">
                <a:solidFill>
                  <a:srgbClr val="4B4A4A"/>
                </a:solidFill>
                <a:latin typeface="Arial"/>
                <a:ea typeface="Arial"/>
                <a:cs typeface="Arial"/>
                <a:sym typeface="Arial"/>
              </a:rPr>
              <a:t>##</a:t>
            </a:r>
            <a:endParaRPr b="0" i="0" sz="5400" u="none" cap="none" strike="noStrike"/>
          </a:p>
        </p:txBody>
      </p:sp>
      <p:sp>
        <p:nvSpPr>
          <p:cNvPr id="171" name="Google Shape;171;p25"/>
          <p:cNvSpPr/>
          <p:nvPr/>
        </p:nvSpPr>
        <p:spPr>
          <a:xfrm>
            <a:off x="8866346" y="3429238"/>
            <a:ext cx="2383988" cy="655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4B4A4A"/>
              </a:buClr>
              <a:buSzPts val="2050"/>
              <a:buFont typeface="Arial"/>
              <a:buNone/>
            </a:pPr>
            <a:r>
              <a:rPr b="1" i="0" lang="en-US" sz="2050" u="none" cap="none" strike="noStrike">
                <a:solidFill>
                  <a:srgbClr val="4B4A4A"/>
                </a:solidFill>
                <a:latin typeface="Arial"/>
                <a:ea typeface="Arial"/>
                <a:cs typeface="Arial"/>
                <a:sym typeface="Arial"/>
              </a:rPr>
              <a:t>Total Quantity Sold</a:t>
            </a:r>
            <a:endParaRPr b="0" i="0" sz="2050" u="none" cap="none" strike="noStrike"/>
          </a:p>
        </p:txBody>
      </p:sp>
      <p:sp>
        <p:nvSpPr>
          <p:cNvPr id="172" name="Google Shape;172;p25"/>
          <p:cNvSpPr/>
          <p:nvPr/>
        </p:nvSpPr>
        <p:spPr>
          <a:xfrm>
            <a:off x="8866346" y="4210288"/>
            <a:ext cx="2383988" cy="6712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Clr>
                <a:srgbClr val="4B4A4A"/>
              </a:buClr>
              <a:buSzPts val="1650"/>
              <a:buFont typeface="Geist"/>
              <a:buNone/>
            </a:pPr>
            <a:r>
              <a:rPr b="0" i="0" lang="en-US" sz="1650" u="none" cap="none" strike="noStrike">
                <a:solidFill>
                  <a:srgbClr val="4B4A4A"/>
                </a:solidFill>
                <a:latin typeface="Geist"/>
                <a:ea typeface="Geist"/>
                <a:cs typeface="Geist"/>
                <a:sym typeface="Geist"/>
              </a:rPr>
              <a:t>Volume of products moved.</a:t>
            </a:r>
            <a:endParaRPr b="0" i="0" sz="1650" u="none" cap="none" strike="noStrike"/>
          </a:p>
        </p:txBody>
      </p:sp>
      <p:sp>
        <p:nvSpPr>
          <p:cNvPr id="173" name="Google Shape;173;p25"/>
          <p:cNvSpPr/>
          <p:nvPr/>
        </p:nvSpPr>
        <p:spPr>
          <a:xfrm>
            <a:off x="11512391" y="2475071"/>
            <a:ext cx="2383988" cy="6921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4A4A"/>
              </a:buClr>
              <a:buSzPts val="5400"/>
              <a:buFont typeface="Arial"/>
              <a:buNone/>
            </a:pPr>
            <a:r>
              <a:rPr b="1" i="0" lang="en-US" sz="5400" u="none" cap="none" strike="noStrike">
                <a:solidFill>
                  <a:srgbClr val="4B4A4A"/>
                </a:solidFill>
                <a:latin typeface="Arial"/>
                <a:ea typeface="Arial"/>
                <a:cs typeface="Arial"/>
                <a:sym typeface="Arial"/>
              </a:rPr>
              <a:t>$$</a:t>
            </a:r>
            <a:endParaRPr b="0" i="0" sz="5400" u="none" cap="none" strike="noStrike"/>
          </a:p>
        </p:txBody>
      </p:sp>
      <p:sp>
        <p:nvSpPr>
          <p:cNvPr id="174" name="Google Shape;174;p25"/>
          <p:cNvSpPr/>
          <p:nvPr/>
        </p:nvSpPr>
        <p:spPr>
          <a:xfrm>
            <a:off x="11512391" y="3429238"/>
            <a:ext cx="2383988" cy="327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4B4A4A"/>
              </a:buClr>
              <a:buSzPts val="2050"/>
              <a:buFont typeface="Arial"/>
              <a:buNone/>
            </a:pPr>
            <a:r>
              <a:rPr b="1" i="0" lang="en-US" sz="2050" u="none" cap="none" strike="noStrike">
                <a:solidFill>
                  <a:srgbClr val="4B4A4A"/>
                </a:solidFill>
                <a:latin typeface="Arial"/>
                <a:ea typeface="Arial"/>
                <a:cs typeface="Arial"/>
                <a:sym typeface="Arial"/>
              </a:rPr>
              <a:t>Total Profit</a:t>
            </a:r>
            <a:endParaRPr b="0" i="0" sz="2050" u="none" cap="none" strike="noStrike"/>
          </a:p>
        </p:txBody>
      </p:sp>
      <p:sp>
        <p:nvSpPr>
          <p:cNvPr id="175" name="Google Shape;175;p25"/>
          <p:cNvSpPr/>
          <p:nvPr/>
        </p:nvSpPr>
        <p:spPr>
          <a:xfrm>
            <a:off x="11512391" y="3882628"/>
            <a:ext cx="2383988" cy="3356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Clr>
                <a:srgbClr val="4B4A4A"/>
              </a:buClr>
              <a:buSzPts val="1650"/>
              <a:buFont typeface="Geist"/>
              <a:buNone/>
            </a:pPr>
            <a:r>
              <a:rPr b="0" i="0" lang="en-US" sz="1650" u="none" cap="none" strike="noStrike">
                <a:solidFill>
                  <a:srgbClr val="4B4A4A"/>
                </a:solidFill>
                <a:latin typeface="Geist"/>
                <a:ea typeface="Geist"/>
                <a:cs typeface="Geist"/>
                <a:sym typeface="Geist"/>
              </a:rPr>
              <a:t>Net earnings from sales.</a:t>
            </a:r>
            <a:endParaRPr b="0" i="0" sz="1650" u="none" cap="none" strike="noStrike"/>
          </a:p>
        </p:txBody>
      </p:sp>
      <p:sp>
        <p:nvSpPr>
          <p:cNvPr id="176" name="Google Shape;176;p25"/>
          <p:cNvSpPr/>
          <p:nvPr/>
        </p:nvSpPr>
        <p:spPr>
          <a:xfrm>
            <a:off x="8866346" y="5405795"/>
            <a:ext cx="2383988" cy="6921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4A4A"/>
              </a:buClr>
              <a:buSzPts val="5400"/>
              <a:buFont typeface="Arial"/>
              <a:buNone/>
            </a:pPr>
            <a:r>
              <a:rPr b="1" i="0" lang="en-US" sz="5400" u="none" cap="none" strike="noStrike">
                <a:solidFill>
                  <a:srgbClr val="4B4A4A"/>
                </a:solidFill>
                <a:latin typeface="Arial"/>
                <a:ea typeface="Arial"/>
                <a:cs typeface="Arial"/>
                <a:sym typeface="Arial"/>
              </a:rPr>
              <a:t>##</a:t>
            </a:r>
            <a:endParaRPr b="0" i="0" sz="5400" u="none" cap="none" strike="noStrike"/>
          </a:p>
        </p:txBody>
      </p:sp>
      <p:sp>
        <p:nvSpPr>
          <p:cNvPr id="177" name="Google Shape;177;p25"/>
          <p:cNvSpPr/>
          <p:nvPr/>
        </p:nvSpPr>
        <p:spPr>
          <a:xfrm>
            <a:off x="8866346" y="6359962"/>
            <a:ext cx="2383988" cy="327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4B4A4A"/>
              </a:buClr>
              <a:buSzPts val="2050"/>
              <a:buFont typeface="Arial"/>
              <a:buNone/>
            </a:pPr>
            <a:r>
              <a:rPr b="1" i="0" lang="en-US" sz="2050" u="none" cap="none" strike="noStrike">
                <a:solidFill>
                  <a:srgbClr val="4B4A4A"/>
                </a:solidFill>
                <a:latin typeface="Arial"/>
                <a:ea typeface="Arial"/>
                <a:cs typeface="Arial"/>
                <a:sym typeface="Arial"/>
              </a:rPr>
              <a:t>Total Orders</a:t>
            </a:r>
            <a:endParaRPr b="0" i="0" sz="2050" u="none" cap="none" strike="noStrike"/>
          </a:p>
        </p:txBody>
      </p:sp>
      <p:sp>
        <p:nvSpPr>
          <p:cNvPr id="178" name="Google Shape;178;p25"/>
          <p:cNvSpPr/>
          <p:nvPr/>
        </p:nvSpPr>
        <p:spPr>
          <a:xfrm>
            <a:off x="8866346" y="6813352"/>
            <a:ext cx="2383988" cy="6712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Clr>
                <a:srgbClr val="4B4A4A"/>
              </a:buClr>
              <a:buSzPts val="1650"/>
              <a:buFont typeface="Geist"/>
              <a:buNone/>
            </a:pPr>
            <a:r>
              <a:rPr b="0" i="0" lang="en-US" sz="1650" u="none" cap="none" strike="noStrike">
                <a:solidFill>
                  <a:srgbClr val="4B4A4A"/>
                </a:solidFill>
                <a:latin typeface="Geist"/>
                <a:ea typeface="Geist"/>
                <a:cs typeface="Geist"/>
                <a:sym typeface="Geist"/>
              </a:rPr>
              <a:t>Number of transactions completed.</a:t>
            </a:r>
            <a:endParaRPr b="0" i="0" sz="1650" u="none" cap="none" strike="noStrike"/>
          </a:p>
        </p:txBody>
      </p:sp>
      <p:sp>
        <p:nvSpPr>
          <p:cNvPr id="179" name="Google Shape;179;p25"/>
          <p:cNvSpPr/>
          <p:nvPr/>
        </p:nvSpPr>
        <p:spPr>
          <a:xfrm>
            <a:off x="12824325" y="7595400"/>
            <a:ext cx="1736700" cy="634200"/>
          </a:xfrm>
          <a:prstGeom prst="rect">
            <a:avLst/>
          </a:prstGeom>
          <a:solidFill>
            <a:srgbClr val="E0F6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6"/>
          <p:cNvSpPr/>
          <p:nvPr/>
        </p:nvSpPr>
        <p:spPr>
          <a:xfrm>
            <a:off x="793790" y="892612"/>
            <a:ext cx="7945041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006747"/>
              </a:buClr>
              <a:buSzPts val="4450"/>
              <a:buFont typeface="Arial"/>
              <a:buNone/>
            </a:pPr>
            <a:r>
              <a:rPr b="1" i="0" lang="en-US" sz="4450" u="none" cap="none" strike="noStrike">
                <a:solidFill>
                  <a:srgbClr val="006747"/>
                </a:solidFill>
                <a:latin typeface="Arial"/>
                <a:ea typeface="Arial"/>
                <a:cs typeface="Arial"/>
                <a:sym typeface="Arial"/>
              </a:rPr>
              <a:t>Sales Performance Analysis</a:t>
            </a:r>
            <a:endParaRPr b="0" i="0" sz="4450" u="none" cap="none" strike="noStrike"/>
          </a:p>
        </p:txBody>
      </p:sp>
      <p:sp>
        <p:nvSpPr>
          <p:cNvPr id="186" name="Google Shape;186;p26"/>
          <p:cNvSpPr/>
          <p:nvPr/>
        </p:nvSpPr>
        <p:spPr>
          <a:xfrm>
            <a:off x="793790" y="2168366"/>
            <a:ext cx="3402330" cy="425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528"/>
              </a:lnSpc>
              <a:spcBef>
                <a:spcPts val="0"/>
              </a:spcBef>
              <a:spcAft>
                <a:spcPts val="0"/>
              </a:spcAft>
              <a:buClr>
                <a:srgbClr val="006747"/>
              </a:buClr>
              <a:buSzPts val="2650"/>
              <a:buFont typeface="Arial"/>
              <a:buNone/>
            </a:pPr>
            <a:r>
              <a:rPr b="1" i="0" lang="en-US" sz="2650" u="none" cap="none" strike="noStrike">
                <a:solidFill>
                  <a:srgbClr val="006747"/>
                </a:solidFill>
                <a:latin typeface="Arial"/>
                <a:ea typeface="Arial"/>
                <a:cs typeface="Arial"/>
                <a:sym typeface="Arial"/>
              </a:rPr>
              <a:t>Key Charts</a:t>
            </a:r>
            <a:endParaRPr b="0" i="0" sz="2650" u="none" cap="none" strike="noStrike"/>
          </a:p>
        </p:txBody>
      </p:sp>
      <p:sp>
        <p:nvSpPr>
          <p:cNvPr id="187" name="Google Shape;187;p26"/>
          <p:cNvSpPr/>
          <p:nvPr/>
        </p:nvSpPr>
        <p:spPr>
          <a:xfrm>
            <a:off x="793790" y="2820472"/>
            <a:ext cx="7604284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B4A4A"/>
              </a:buClr>
              <a:buSzPts val="1750"/>
              <a:buFont typeface="Geist"/>
              <a:buChar char="•"/>
            </a:pPr>
            <a:r>
              <a:rPr b="0" i="0" lang="en-US" sz="1750" u="none" cap="none" strike="noStrike">
                <a:solidFill>
                  <a:srgbClr val="4B4A4A"/>
                </a:solidFill>
                <a:latin typeface="Geist"/>
                <a:ea typeface="Geist"/>
                <a:cs typeface="Geist"/>
                <a:sym typeface="Geist"/>
              </a:rPr>
              <a:t>Sales by Category</a:t>
            </a:r>
            <a:endParaRPr b="0" i="0" sz="1750" u="none" cap="none" strike="noStrike"/>
          </a:p>
        </p:txBody>
      </p:sp>
      <p:sp>
        <p:nvSpPr>
          <p:cNvPr id="188" name="Google Shape;188;p26"/>
          <p:cNvSpPr/>
          <p:nvPr/>
        </p:nvSpPr>
        <p:spPr>
          <a:xfrm>
            <a:off x="793790" y="3262670"/>
            <a:ext cx="7604284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B4A4A"/>
              </a:buClr>
              <a:buSzPts val="1750"/>
              <a:buFont typeface="Geist"/>
              <a:buChar char="•"/>
            </a:pPr>
            <a:r>
              <a:rPr b="0" i="0" lang="en-US" sz="1750" u="none" cap="none" strike="noStrike">
                <a:solidFill>
                  <a:srgbClr val="4B4A4A"/>
                </a:solidFill>
                <a:latin typeface="Geist"/>
                <a:ea typeface="Geist"/>
                <a:cs typeface="Geist"/>
                <a:sym typeface="Geist"/>
              </a:rPr>
              <a:t>Sales by Segment</a:t>
            </a:r>
            <a:endParaRPr b="0" i="0" sz="1750" u="none" cap="none" strike="noStrike"/>
          </a:p>
        </p:txBody>
      </p:sp>
      <p:sp>
        <p:nvSpPr>
          <p:cNvPr id="189" name="Google Shape;189;p26"/>
          <p:cNvSpPr/>
          <p:nvPr/>
        </p:nvSpPr>
        <p:spPr>
          <a:xfrm>
            <a:off x="793790" y="3704868"/>
            <a:ext cx="7604284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B4A4A"/>
              </a:buClr>
              <a:buSzPts val="1750"/>
              <a:buFont typeface="Geist"/>
              <a:buChar char="•"/>
            </a:pPr>
            <a:r>
              <a:rPr b="0" i="0" lang="en-US" sz="1750" u="none" cap="none" strike="noStrike">
                <a:solidFill>
                  <a:srgbClr val="4B4A4A"/>
                </a:solidFill>
                <a:latin typeface="Geist"/>
                <a:ea typeface="Geist"/>
                <a:cs typeface="Geist"/>
                <a:sym typeface="Geist"/>
              </a:rPr>
              <a:t>Monthly Sales Trend</a:t>
            </a:r>
            <a:endParaRPr b="0" i="0" sz="1750" u="none" cap="none" strike="noStrike"/>
          </a:p>
        </p:txBody>
      </p:sp>
      <p:sp>
        <p:nvSpPr>
          <p:cNvPr id="190" name="Google Shape;190;p26"/>
          <p:cNvSpPr/>
          <p:nvPr/>
        </p:nvSpPr>
        <p:spPr>
          <a:xfrm>
            <a:off x="793790" y="4294584"/>
            <a:ext cx="3402330" cy="425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528"/>
              </a:lnSpc>
              <a:spcBef>
                <a:spcPts val="0"/>
              </a:spcBef>
              <a:spcAft>
                <a:spcPts val="0"/>
              </a:spcAft>
              <a:buClr>
                <a:srgbClr val="006747"/>
              </a:buClr>
              <a:buSzPts val="2650"/>
              <a:buFont typeface="Arial"/>
              <a:buNone/>
            </a:pPr>
            <a:r>
              <a:rPr b="1" i="0" lang="en-US" sz="2650" u="none" cap="none" strike="noStrike">
                <a:solidFill>
                  <a:srgbClr val="006747"/>
                </a:solidFill>
                <a:latin typeface="Arial"/>
                <a:ea typeface="Arial"/>
                <a:cs typeface="Arial"/>
                <a:sym typeface="Arial"/>
              </a:rPr>
              <a:t>Insights</a:t>
            </a:r>
            <a:endParaRPr b="0" i="0" sz="2650" u="none" cap="none" strike="noStrike"/>
          </a:p>
        </p:txBody>
      </p:sp>
      <p:sp>
        <p:nvSpPr>
          <p:cNvPr id="191" name="Google Shape;191;p26"/>
          <p:cNvSpPr/>
          <p:nvPr/>
        </p:nvSpPr>
        <p:spPr>
          <a:xfrm>
            <a:off x="793790" y="4946690"/>
            <a:ext cx="7604284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B4A4A"/>
              </a:buClr>
              <a:buSzPts val="1750"/>
              <a:buFont typeface="Geist"/>
              <a:buNone/>
            </a:pPr>
            <a:r>
              <a:rPr b="0" i="0" lang="en-US" sz="1750" u="none" cap="none" strike="noStrike">
                <a:solidFill>
                  <a:srgbClr val="4B4A4A"/>
                </a:solidFill>
                <a:latin typeface="Geist"/>
                <a:ea typeface="Geist"/>
                <a:cs typeface="Geist"/>
                <a:sym typeface="Geist"/>
              </a:rPr>
              <a:t>These visualizations help us identify the best-performing categories and uncover crucial seasonal sales trends, guiding strategic planning.</a:t>
            </a:r>
            <a:endParaRPr b="0" i="0" sz="1750" u="none" cap="none" strike="noStrike"/>
          </a:p>
        </p:txBody>
      </p:sp>
      <p:pic>
        <p:nvPicPr>
          <p:cNvPr descr="preencoded.png" id="192" name="Google Shape;192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59096" y="2196703"/>
            <a:ext cx="4885015" cy="4885015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6"/>
          <p:cNvSpPr/>
          <p:nvPr/>
        </p:nvSpPr>
        <p:spPr>
          <a:xfrm>
            <a:off x="12824325" y="7595400"/>
            <a:ext cx="1736700" cy="634200"/>
          </a:xfrm>
          <a:prstGeom prst="rect">
            <a:avLst/>
          </a:prstGeom>
          <a:solidFill>
            <a:srgbClr val="E0F6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7"/>
          <p:cNvSpPr/>
          <p:nvPr/>
        </p:nvSpPr>
        <p:spPr>
          <a:xfrm>
            <a:off x="793790" y="892612"/>
            <a:ext cx="7423428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006747"/>
              </a:buClr>
              <a:buSzPts val="4450"/>
              <a:buFont typeface="Arial"/>
              <a:buNone/>
            </a:pPr>
            <a:r>
              <a:rPr b="1" i="0" lang="en-US" sz="4450" u="none" cap="none" strike="noStrike">
                <a:solidFill>
                  <a:srgbClr val="006747"/>
                </a:solidFill>
                <a:latin typeface="Arial"/>
                <a:ea typeface="Arial"/>
                <a:cs typeface="Arial"/>
                <a:sym typeface="Arial"/>
              </a:rPr>
              <a:t>Profit &amp; Orders Deep Dive</a:t>
            </a:r>
            <a:endParaRPr b="0" i="0" sz="4450" u="none" cap="none" strike="noStrike"/>
          </a:p>
        </p:txBody>
      </p:sp>
      <p:pic>
        <p:nvPicPr>
          <p:cNvPr descr="preencoded.png" id="200" name="Google Shape;200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3790" y="2196703"/>
            <a:ext cx="4885015" cy="4885015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27"/>
          <p:cNvSpPr/>
          <p:nvPr/>
        </p:nvSpPr>
        <p:spPr>
          <a:xfrm>
            <a:off x="6239828" y="2168366"/>
            <a:ext cx="3402330" cy="425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528"/>
              </a:lnSpc>
              <a:spcBef>
                <a:spcPts val="0"/>
              </a:spcBef>
              <a:spcAft>
                <a:spcPts val="0"/>
              </a:spcAft>
              <a:buClr>
                <a:srgbClr val="006747"/>
              </a:buClr>
              <a:buSzPts val="2650"/>
              <a:buFont typeface="Arial"/>
              <a:buNone/>
            </a:pPr>
            <a:r>
              <a:rPr b="1" i="0" lang="en-US" sz="2650" u="none" cap="none" strike="noStrike">
                <a:solidFill>
                  <a:srgbClr val="006747"/>
                </a:solidFill>
                <a:latin typeface="Arial"/>
                <a:ea typeface="Arial"/>
                <a:cs typeface="Arial"/>
                <a:sym typeface="Arial"/>
              </a:rPr>
              <a:t>Key Charts</a:t>
            </a:r>
            <a:endParaRPr b="0" i="0" sz="2650" u="none" cap="none" strike="noStrike"/>
          </a:p>
        </p:txBody>
      </p:sp>
      <p:sp>
        <p:nvSpPr>
          <p:cNvPr id="202" name="Google Shape;202;p27"/>
          <p:cNvSpPr/>
          <p:nvPr/>
        </p:nvSpPr>
        <p:spPr>
          <a:xfrm>
            <a:off x="6239828" y="2820472"/>
            <a:ext cx="7604284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B4A4A"/>
              </a:buClr>
              <a:buSzPts val="1750"/>
              <a:buFont typeface="Geist"/>
              <a:buChar char="•"/>
            </a:pPr>
            <a:r>
              <a:rPr b="0" i="0" lang="en-US" sz="1750" u="none" cap="none" strike="noStrike">
                <a:solidFill>
                  <a:srgbClr val="4B4A4A"/>
                </a:solidFill>
                <a:latin typeface="Geist"/>
                <a:ea typeface="Geist"/>
                <a:cs typeface="Geist"/>
                <a:sym typeface="Geist"/>
              </a:rPr>
              <a:t>Profit by Region</a:t>
            </a:r>
            <a:endParaRPr b="0" i="0" sz="1750" u="none" cap="none" strike="noStrike"/>
          </a:p>
        </p:txBody>
      </p:sp>
      <p:sp>
        <p:nvSpPr>
          <p:cNvPr id="203" name="Google Shape;203;p27"/>
          <p:cNvSpPr/>
          <p:nvPr/>
        </p:nvSpPr>
        <p:spPr>
          <a:xfrm>
            <a:off x="6239828" y="3262670"/>
            <a:ext cx="7604284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B4A4A"/>
              </a:buClr>
              <a:buSzPts val="1750"/>
              <a:buFont typeface="Geist"/>
              <a:buChar char="•"/>
            </a:pPr>
            <a:r>
              <a:rPr b="0" i="0" lang="en-US" sz="1750" u="none" cap="none" strike="noStrike">
                <a:solidFill>
                  <a:srgbClr val="4B4A4A"/>
                </a:solidFill>
                <a:latin typeface="Geist"/>
                <a:ea typeface="Geist"/>
                <a:cs typeface="Geist"/>
                <a:sym typeface="Geist"/>
              </a:rPr>
              <a:t>Top 10 Products by Sales</a:t>
            </a:r>
            <a:endParaRPr b="0" i="0" sz="1750" u="none" cap="none" strike="noStrike"/>
          </a:p>
        </p:txBody>
      </p:sp>
      <p:sp>
        <p:nvSpPr>
          <p:cNvPr id="204" name="Google Shape;204;p27"/>
          <p:cNvSpPr/>
          <p:nvPr/>
        </p:nvSpPr>
        <p:spPr>
          <a:xfrm>
            <a:off x="6239828" y="3704868"/>
            <a:ext cx="7604284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B4A4A"/>
              </a:buClr>
              <a:buSzPts val="1750"/>
              <a:buFont typeface="Geist"/>
              <a:buChar char="•"/>
            </a:pPr>
            <a:r>
              <a:rPr b="0" i="0" lang="en-US" sz="1750" u="none" cap="none" strike="noStrike">
                <a:solidFill>
                  <a:srgbClr val="4B4A4A"/>
                </a:solidFill>
                <a:latin typeface="Geist"/>
                <a:ea typeface="Geist"/>
                <a:cs typeface="Geist"/>
                <a:sym typeface="Geist"/>
              </a:rPr>
              <a:t>Sales Distribution Map by State (Bubble Map)</a:t>
            </a:r>
            <a:endParaRPr b="0" i="0" sz="1750" u="none" cap="none" strike="noStrike"/>
          </a:p>
        </p:txBody>
      </p:sp>
      <p:sp>
        <p:nvSpPr>
          <p:cNvPr id="205" name="Google Shape;205;p27"/>
          <p:cNvSpPr/>
          <p:nvPr/>
        </p:nvSpPr>
        <p:spPr>
          <a:xfrm>
            <a:off x="6239828" y="4294584"/>
            <a:ext cx="3402330" cy="425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528"/>
              </a:lnSpc>
              <a:spcBef>
                <a:spcPts val="0"/>
              </a:spcBef>
              <a:spcAft>
                <a:spcPts val="0"/>
              </a:spcAft>
              <a:buClr>
                <a:srgbClr val="006747"/>
              </a:buClr>
              <a:buSzPts val="2650"/>
              <a:buFont typeface="Arial"/>
              <a:buNone/>
            </a:pPr>
            <a:r>
              <a:rPr b="1" i="0" lang="en-US" sz="2650" u="none" cap="none" strike="noStrike">
                <a:solidFill>
                  <a:srgbClr val="006747"/>
                </a:solidFill>
                <a:latin typeface="Arial"/>
                <a:ea typeface="Arial"/>
                <a:cs typeface="Arial"/>
                <a:sym typeface="Arial"/>
              </a:rPr>
              <a:t>Insights</a:t>
            </a:r>
            <a:endParaRPr b="0" i="0" sz="2650" u="none" cap="none" strike="noStrike"/>
          </a:p>
        </p:txBody>
      </p:sp>
      <p:sp>
        <p:nvSpPr>
          <p:cNvPr id="206" name="Google Shape;206;p27"/>
          <p:cNvSpPr/>
          <p:nvPr/>
        </p:nvSpPr>
        <p:spPr>
          <a:xfrm>
            <a:off x="6239828" y="4946690"/>
            <a:ext cx="7604284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B4A4A"/>
              </a:buClr>
              <a:buSzPts val="1750"/>
              <a:buFont typeface="Geist"/>
              <a:buNone/>
            </a:pPr>
            <a:r>
              <a:rPr b="0" i="0" lang="en-US" sz="1750" u="none" cap="none" strike="noStrike">
                <a:solidFill>
                  <a:srgbClr val="4B4A4A"/>
                </a:solidFill>
                <a:latin typeface="Geist"/>
                <a:ea typeface="Geist"/>
                <a:cs typeface="Geist"/>
                <a:sym typeface="Geist"/>
              </a:rPr>
              <a:t>Understand regional profitability, pinpoint best-selling products, and visualize geographic sales hotspots for targeted strategies.</a:t>
            </a:r>
            <a:endParaRPr b="0" i="0" sz="1750" u="none" cap="none" strike="noStrike"/>
          </a:p>
        </p:txBody>
      </p:sp>
      <p:sp>
        <p:nvSpPr>
          <p:cNvPr id="207" name="Google Shape;207;p27"/>
          <p:cNvSpPr/>
          <p:nvPr/>
        </p:nvSpPr>
        <p:spPr>
          <a:xfrm>
            <a:off x="12824325" y="7595400"/>
            <a:ext cx="1736700" cy="634200"/>
          </a:xfrm>
          <a:prstGeom prst="rect">
            <a:avLst/>
          </a:prstGeom>
          <a:solidFill>
            <a:srgbClr val="E0F6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8"/>
          <p:cNvSpPr/>
          <p:nvPr/>
        </p:nvSpPr>
        <p:spPr>
          <a:xfrm>
            <a:off x="793790" y="2037517"/>
            <a:ext cx="9301282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006747"/>
              </a:buClr>
              <a:buSzPts val="4450"/>
              <a:buFont typeface="Arial"/>
              <a:buNone/>
            </a:pPr>
            <a:r>
              <a:rPr b="1" i="0" lang="en-US" sz="4450" u="none" cap="none" strike="noStrike">
                <a:solidFill>
                  <a:srgbClr val="006747"/>
                </a:solidFill>
                <a:latin typeface="Arial"/>
                <a:ea typeface="Arial"/>
                <a:cs typeface="Arial"/>
                <a:sym typeface="Arial"/>
              </a:rPr>
              <a:t>Interactive Dashboard Overview</a:t>
            </a:r>
            <a:endParaRPr b="0" i="0" sz="4450" u="none" cap="none" strike="noStrike"/>
          </a:p>
        </p:txBody>
      </p:sp>
      <p:sp>
        <p:nvSpPr>
          <p:cNvPr id="214" name="Google Shape;214;p28"/>
          <p:cNvSpPr/>
          <p:nvPr/>
        </p:nvSpPr>
        <p:spPr>
          <a:xfrm>
            <a:off x="793790" y="3199924"/>
            <a:ext cx="13042821" cy="2992041"/>
          </a:xfrm>
          <a:prstGeom prst="roundRect">
            <a:avLst>
              <a:gd fmla="val 6823" name="adj"/>
            </a:avLst>
          </a:prstGeom>
          <a:solidFill>
            <a:srgbClr val="D1EFE4"/>
          </a:solidFill>
          <a:ln cap="flat" cmpd="sng" w="9525">
            <a:solidFill>
              <a:srgbClr val="B7D5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28"/>
          <p:cNvSpPr/>
          <p:nvPr/>
        </p:nvSpPr>
        <p:spPr>
          <a:xfrm>
            <a:off x="801410" y="3207544"/>
            <a:ext cx="4342448" cy="1669852"/>
          </a:xfrm>
          <a:prstGeom prst="roundRect">
            <a:avLst>
              <a:gd fmla="val 12225" name="adj"/>
            </a:avLst>
          </a:prstGeom>
          <a:solidFill>
            <a:srgbClr val="D1EF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28"/>
          <p:cNvSpPr/>
          <p:nvPr/>
        </p:nvSpPr>
        <p:spPr>
          <a:xfrm>
            <a:off x="1028224" y="3434358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B4A4A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4B4A4A"/>
                </a:solidFill>
                <a:latin typeface="Arial"/>
                <a:ea typeface="Arial"/>
                <a:cs typeface="Arial"/>
                <a:sym typeface="Arial"/>
              </a:rPr>
              <a:t>Interactive</a:t>
            </a:r>
            <a:endParaRPr b="0" i="0" sz="2200" u="none" cap="none" strike="noStrike"/>
          </a:p>
        </p:txBody>
      </p:sp>
      <p:sp>
        <p:nvSpPr>
          <p:cNvPr id="217" name="Google Shape;217;p28"/>
          <p:cNvSpPr/>
          <p:nvPr/>
        </p:nvSpPr>
        <p:spPr>
          <a:xfrm>
            <a:off x="1028224" y="3924776"/>
            <a:ext cx="3548658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B4A4A"/>
              </a:buClr>
              <a:buSzPts val="1750"/>
              <a:buFont typeface="Geist"/>
              <a:buNone/>
            </a:pPr>
            <a:r>
              <a:rPr b="0" i="0" lang="en-US" sz="1750" u="none" cap="none" strike="noStrike">
                <a:solidFill>
                  <a:srgbClr val="4B4A4A"/>
                </a:solidFill>
                <a:latin typeface="Geist"/>
                <a:ea typeface="Geist"/>
                <a:cs typeface="Geist"/>
                <a:sym typeface="Geist"/>
              </a:rPr>
              <a:t>Dynamic and user-friendly interface.</a:t>
            </a:r>
            <a:endParaRPr b="0" i="0" sz="1750" u="none" cap="none" strike="noStrike"/>
          </a:p>
        </p:txBody>
      </p:sp>
      <p:sp>
        <p:nvSpPr>
          <p:cNvPr id="218" name="Google Shape;218;p28"/>
          <p:cNvSpPr/>
          <p:nvPr/>
        </p:nvSpPr>
        <p:spPr>
          <a:xfrm>
            <a:off x="5143857" y="3207544"/>
            <a:ext cx="4342567" cy="1669852"/>
          </a:xfrm>
          <a:prstGeom prst="rect">
            <a:avLst/>
          </a:prstGeom>
          <a:solidFill>
            <a:srgbClr val="D1EF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28"/>
          <p:cNvSpPr/>
          <p:nvPr/>
        </p:nvSpPr>
        <p:spPr>
          <a:xfrm>
            <a:off x="5143857" y="3207544"/>
            <a:ext cx="30480" cy="1669852"/>
          </a:xfrm>
          <a:prstGeom prst="roundRect">
            <a:avLst>
              <a:gd fmla="val 669768" name="adj"/>
            </a:avLst>
          </a:prstGeom>
          <a:solidFill>
            <a:srgbClr val="B7D5C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28"/>
          <p:cNvSpPr/>
          <p:nvPr/>
        </p:nvSpPr>
        <p:spPr>
          <a:xfrm>
            <a:off x="5710833" y="3434358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B4A4A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4B4A4A"/>
                </a:solidFill>
                <a:latin typeface="Arial"/>
                <a:ea typeface="Arial"/>
                <a:cs typeface="Arial"/>
                <a:sym typeface="Arial"/>
              </a:rPr>
              <a:t>Visual Storytelling</a:t>
            </a:r>
            <a:endParaRPr b="0" i="0" sz="2200" u="none" cap="none" strike="noStrike"/>
          </a:p>
        </p:txBody>
      </p:sp>
      <p:sp>
        <p:nvSpPr>
          <p:cNvPr id="221" name="Google Shape;221;p28"/>
          <p:cNvSpPr/>
          <p:nvPr/>
        </p:nvSpPr>
        <p:spPr>
          <a:xfrm>
            <a:off x="5710833" y="3924776"/>
            <a:ext cx="3208615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B4A4A"/>
              </a:buClr>
              <a:buSzPts val="1750"/>
              <a:buFont typeface="Geist"/>
              <a:buNone/>
            </a:pPr>
            <a:r>
              <a:rPr b="0" i="0" lang="en-US" sz="1750" u="none" cap="none" strike="noStrike">
                <a:solidFill>
                  <a:srgbClr val="4B4A4A"/>
                </a:solidFill>
                <a:latin typeface="Geist"/>
                <a:ea typeface="Geist"/>
                <a:cs typeface="Geist"/>
                <a:sym typeface="Geist"/>
              </a:rPr>
              <a:t>Data presented as a compelling narrative.</a:t>
            </a:r>
            <a:endParaRPr b="0" i="0" sz="1750" u="none" cap="none" strike="noStrike"/>
          </a:p>
        </p:txBody>
      </p:sp>
      <p:sp>
        <p:nvSpPr>
          <p:cNvPr id="222" name="Google Shape;222;p28"/>
          <p:cNvSpPr/>
          <p:nvPr/>
        </p:nvSpPr>
        <p:spPr>
          <a:xfrm>
            <a:off x="4860369" y="3758922"/>
            <a:ext cx="566976" cy="566976"/>
          </a:xfrm>
          <a:prstGeom prst="roundRect">
            <a:avLst>
              <a:gd fmla="val 36006" name="adj"/>
            </a:avLst>
          </a:prstGeom>
          <a:solidFill>
            <a:srgbClr val="E5F9F2">
              <a:alpha val="94901"/>
            </a:srgbClr>
          </a:solidFill>
          <a:ln cap="flat" cmpd="sng" w="30475">
            <a:solidFill>
              <a:srgbClr val="B7D5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23" name="Google Shape;223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02054" y="3900607"/>
            <a:ext cx="283488" cy="283488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8"/>
          <p:cNvSpPr/>
          <p:nvPr/>
        </p:nvSpPr>
        <p:spPr>
          <a:xfrm>
            <a:off x="9486424" y="3207544"/>
            <a:ext cx="4342567" cy="1669852"/>
          </a:xfrm>
          <a:prstGeom prst="rect">
            <a:avLst/>
          </a:prstGeom>
          <a:solidFill>
            <a:srgbClr val="D1EF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8"/>
          <p:cNvSpPr/>
          <p:nvPr/>
        </p:nvSpPr>
        <p:spPr>
          <a:xfrm>
            <a:off x="9486424" y="3207544"/>
            <a:ext cx="30480" cy="1669852"/>
          </a:xfrm>
          <a:prstGeom prst="roundRect">
            <a:avLst>
              <a:gd fmla="val 669768" name="adj"/>
            </a:avLst>
          </a:prstGeom>
          <a:solidFill>
            <a:srgbClr val="B7D5C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28"/>
          <p:cNvSpPr/>
          <p:nvPr/>
        </p:nvSpPr>
        <p:spPr>
          <a:xfrm>
            <a:off x="10053399" y="3434358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B4A4A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4B4A4A"/>
                </a:solidFill>
                <a:latin typeface="Arial"/>
                <a:ea typeface="Arial"/>
                <a:cs typeface="Arial"/>
                <a:sym typeface="Arial"/>
              </a:rPr>
              <a:t>Trend Analysis</a:t>
            </a:r>
            <a:endParaRPr b="0" i="0" sz="2200" u="none" cap="none" strike="noStrike"/>
          </a:p>
        </p:txBody>
      </p:sp>
      <p:sp>
        <p:nvSpPr>
          <p:cNvPr id="227" name="Google Shape;227;p28"/>
          <p:cNvSpPr/>
          <p:nvPr/>
        </p:nvSpPr>
        <p:spPr>
          <a:xfrm>
            <a:off x="10053399" y="3924776"/>
            <a:ext cx="3548777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B4A4A"/>
              </a:buClr>
              <a:buSzPts val="1750"/>
              <a:buFont typeface="Geist"/>
              <a:buNone/>
            </a:pPr>
            <a:r>
              <a:rPr b="0" i="0" lang="en-US" sz="1750" u="none" cap="none" strike="noStrike">
                <a:solidFill>
                  <a:srgbClr val="4B4A4A"/>
                </a:solidFill>
                <a:latin typeface="Geist"/>
                <a:ea typeface="Geist"/>
                <a:cs typeface="Geist"/>
                <a:sym typeface="Geist"/>
              </a:rPr>
              <a:t>Tools for identifying evolving patterns.</a:t>
            </a:r>
            <a:endParaRPr b="0" i="0" sz="1750" u="none" cap="none" strike="noStrike"/>
          </a:p>
        </p:txBody>
      </p:sp>
      <p:sp>
        <p:nvSpPr>
          <p:cNvPr id="228" name="Google Shape;228;p28"/>
          <p:cNvSpPr/>
          <p:nvPr/>
        </p:nvSpPr>
        <p:spPr>
          <a:xfrm>
            <a:off x="9202936" y="3758922"/>
            <a:ext cx="566976" cy="566976"/>
          </a:xfrm>
          <a:prstGeom prst="roundRect">
            <a:avLst>
              <a:gd fmla="val 36006" name="adj"/>
            </a:avLst>
          </a:prstGeom>
          <a:solidFill>
            <a:srgbClr val="E5F9F2">
              <a:alpha val="94901"/>
            </a:srgbClr>
          </a:solidFill>
          <a:ln cap="flat" cmpd="sng" w="30475">
            <a:solidFill>
              <a:srgbClr val="B7D5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29" name="Google Shape;229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44620" y="3900607"/>
            <a:ext cx="283488" cy="283488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8"/>
          <p:cNvSpPr/>
          <p:nvPr/>
        </p:nvSpPr>
        <p:spPr>
          <a:xfrm>
            <a:off x="801410" y="4877395"/>
            <a:ext cx="6513790" cy="1306949"/>
          </a:xfrm>
          <a:prstGeom prst="rect">
            <a:avLst/>
          </a:prstGeom>
          <a:solidFill>
            <a:srgbClr val="D1EF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28"/>
          <p:cNvSpPr/>
          <p:nvPr/>
        </p:nvSpPr>
        <p:spPr>
          <a:xfrm>
            <a:off x="801410" y="4877395"/>
            <a:ext cx="6513790" cy="30480"/>
          </a:xfrm>
          <a:prstGeom prst="roundRect">
            <a:avLst>
              <a:gd fmla="val 669768" name="adj"/>
            </a:avLst>
          </a:prstGeom>
          <a:solidFill>
            <a:srgbClr val="B7D5C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28"/>
          <p:cNvSpPr/>
          <p:nvPr/>
        </p:nvSpPr>
        <p:spPr>
          <a:xfrm>
            <a:off x="1028224" y="5104209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B4A4A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4B4A4A"/>
                </a:solidFill>
                <a:latin typeface="Arial"/>
                <a:ea typeface="Arial"/>
                <a:cs typeface="Arial"/>
                <a:sym typeface="Arial"/>
              </a:rPr>
              <a:t>Category Filters</a:t>
            </a:r>
            <a:endParaRPr b="0" i="0" sz="2200" u="none" cap="none" strike="noStrike"/>
          </a:p>
        </p:txBody>
      </p:sp>
      <p:sp>
        <p:nvSpPr>
          <p:cNvPr id="233" name="Google Shape;233;p28"/>
          <p:cNvSpPr/>
          <p:nvPr/>
        </p:nvSpPr>
        <p:spPr>
          <a:xfrm>
            <a:off x="1028224" y="5594628"/>
            <a:ext cx="572000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B4A4A"/>
              </a:buClr>
              <a:buSzPts val="1750"/>
              <a:buFont typeface="Geist"/>
              <a:buNone/>
            </a:pPr>
            <a:r>
              <a:rPr b="0" i="0" lang="en-US" sz="1750" u="none" cap="none" strike="noStrike">
                <a:solidFill>
                  <a:srgbClr val="4B4A4A"/>
                </a:solidFill>
                <a:latin typeface="Geist"/>
                <a:ea typeface="Geist"/>
                <a:cs typeface="Geist"/>
                <a:sym typeface="Geist"/>
              </a:rPr>
              <a:t>Granular performance insights.</a:t>
            </a:r>
            <a:endParaRPr b="0" i="0" sz="1750" u="none" cap="none" strike="noStrike"/>
          </a:p>
        </p:txBody>
      </p:sp>
      <p:sp>
        <p:nvSpPr>
          <p:cNvPr id="234" name="Google Shape;234;p28"/>
          <p:cNvSpPr/>
          <p:nvPr/>
        </p:nvSpPr>
        <p:spPr>
          <a:xfrm>
            <a:off x="7315200" y="4877395"/>
            <a:ext cx="6513790" cy="1306949"/>
          </a:xfrm>
          <a:prstGeom prst="rect">
            <a:avLst/>
          </a:prstGeom>
          <a:solidFill>
            <a:srgbClr val="D1EF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28"/>
          <p:cNvSpPr/>
          <p:nvPr/>
        </p:nvSpPr>
        <p:spPr>
          <a:xfrm>
            <a:off x="7315200" y="4877395"/>
            <a:ext cx="30480" cy="1306949"/>
          </a:xfrm>
          <a:prstGeom prst="roundRect">
            <a:avLst>
              <a:gd fmla="val 669768" name="adj"/>
            </a:avLst>
          </a:prstGeom>
          <a:solidFill>
            <a:srgbClr val="B7D5C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28"/>
          <p:cNvSpPr/>
          <p:nvPr/>
        </p:nvSpPr>
        <p:spPr>
          <a:xfrm>
            <a:off x="7315200" y="4877395"/>
            <a:ext cx="6513790" cy="30480"/>
          </a:xfrm>
          <a:prstGeom prst="roundRect">
            <a:avLst>
              <a:gd fmla="val 669768" name="adj"/>
            </a:avLst>
          </a:prstGeom>
          <a:solidFill>
            <a:srgbClr val="B7D5C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28"/>
          <p:cNvSpPr/>
          <p:nvPr/>
        </p:nvSpPr>
        <p:spPr>
          <a:xfrm>
            <a:off x="7882176" y="5104209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B4A4A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4B4A4A"/>
                </a:solidFill>
                <a:latin typeface="Arial"/>
                <a:ea typeface="Arial"/>
                <a:cs typeface="Arial"/>
                <a:sym typeface="Arial"/>
              </a:rPr>
              <a:t>Clear Insights</a:t>
            </a:r>
            <a:endParaRPr b="0" i="0" sz="2200" u="none" cap="none" strike="noStrike"/>
          </a:p>
        </p:txBody>
      </p:sp>
      <p:sp>
        <p:nvSpPr>
          <p:cNvPr id="238" name="Google Shape;238;p28"/>
          <p:cNvSpPr/>
          <p:nvPr/>
        </p:nvSpPr>
        <p:spPr>
          <a:xfrm>
            <a:off x="7882176" y="5594628"/>
            <a:ext cx="572000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B4A4A"/>
              </a:buClr>
              <a:buSzPts val="1750"/>
              <a:buFont typeface="Geist"/>
              <a:buNone/>
            </a:pPr>
            <a:r>
              <a:rPr b="0" i="0" lang="en-US" sz="1750" u="none" cap="none" strike="noStrike">
                <a:solidFill>
                  <a:srgbClr val="4B4A4A"/>
                </a:solidFill>
                <a:latin typeface="Geist"/>
                <a:ea typeface="Geist"/>
                <a:cs typeface="Geist"/>
                <a:sym typeface="Geist"/>
              </a:rPr>
              <a:t>Actionable data for informed decisions.</a:t>
            </a:r>
            <a:endParaRPr b="0" i="0" sz="1750" u="none" cap="none" strike="noStrike"/>
          </a:p>
        </p:txBody>
      </p:sp>
      <p:sp>
        <p:nvSpPr>
          <p:cNvPr id="239" name="Google Shape;239;p28"/>
          <p:cNvSpPr/>
          <p:nvPr/>
        </p:nvSpPr>
        <p:spPr>
          <a:xfrm>
            <a:off x="7031712" y="5247323"/>
            <a:ext cx="566976" cy="566976"/>
          </a:xfrm>
          <a:prstGeom prst="roundRect">
            <a:avLst>
              <a:gd fmla="val 36006" name="adj"/>
            </a:avLst>
          </a:prstGeom>
          <a:solidFill>
            <a:srgbClr val="E5F9F2">
              <a:alpha val="94901"/>
            </a:srgbClr>
          </a:solidFill>
          <a:ln cap="flat" cmpd="sng" w="30475">
            <a:solidFill>
              <a:srgbClr val="B7D5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40" name="Google Shape;240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73397" y="5389007"/>
            <a:ext cx="283488" cy="283488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28"/>
          <p:cNvSpPr/>
          <p:nvPr/>
        </p:nvSpPr>
        <p:spPr>
          <a:xfrm>
            <a:off x="12824325" y="7595400"/>
            <a:ext cx="1736700" cy="634200"/>
          </a:xfrm>
          <a:prstGeom prst="rect">
            <a:avLst/>
          </a:prstGeom>
          <a:solidFill>
            <a:srgbClr val="E0F6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9"/>
          <p:cNvSpPr/>
          <p:nvPr/>
        </p:nvSpPr>
        <p:spPr>
          <a:xfrm>
            <a:off x="735925" y="578168"/>
            <a:ext cx="6318171" cy="656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609"/>
              </a:lnSpc>
              <a:spcBef>
                <a:spcPts val="0"/>
              </a:spcBef>
              <a:spcAft>
                <a:spcPts val="0"/>
              </a:spcAft>
              <a:buClr>
                <a:srgbClr val="006747"/>
              </a:buClr>
              <a:buSzPts val="4100"/>
              <a:buFont typeface="Arial"/>
              <a:buNone/>
            </a:pPr>
            <a:r>
              <a:rPr b="1" i="0" lang="en-US" sz="4100" u="none" cap="none" strike="noStrike">
                <a:solidFill>
                  <a:srgbClr val="006747"/>
                </a:solidFill>
                <a:latin typeface="Arial"/>
                <a:ea typeface="Arial"/>
                <a:cs typeface="Arial"/>
                <a:sym typeface="Arial"/>
              </a:rPr>
              <a:t>Key Findings &amp; Insights</a:t>
            </a:r>
            <a:endParaRPr b="0" i="0" sz="4100" u="none" cap="none" strike="noStrike"/>
          </a:p>
        </p:txBody>
      </p:sp>
      <p:sp>
        <p:nvSpPr>
          <p:cNvPr id="248" name="Google Shape;248;p29"/>
          <p:cNvSpPr/>
          <p:nvPr/>
        </p:nvSpPr>
        <p:spPr>
          <a:xfrm>
            <a:off x="735925" y="1655683"/>
            <a:ext cx="473035" cy="473035"/>
          </a:xfrm>
          <a:prstGeom prst="roundRect">
            <a:avLst>
              <a:gd fmla="val 40008" name="adj"/>
            </a:avLst>
          </a:prstGeom>
          <a:solidFill>
            <a:srgbClr val="D1EFE4"/>
          </a:solidFill>
          <a:ln cap="flat" cmpd="sng" w="9525">
            <a:solidFill>
              <a:srgbClr val="B7D5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29"/>
          <p:cNvSpPr/>
          <p:nvPr/>
        </p:nvSpPr>
        <p:spPr>
          <a:xfrm>
            <a:off x="814685" y="1695033"/>
            <a:ext cx="315397" cy="3942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4A4A"/>
              </a:buClr>
              <a:buSzPts val="2450"/>
              <a:buFont typeface="Arial"/>
              <a:buNone/>
            </a:pPr>
            <a:r>
              <a:rPr b="1" i="0" lang="en-US" sz="2450" u="none" cap="none" strike="noStrike">
                <a:solidFill>
                  <a:srgbClr val="4B4A4A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2450" u="none" cap="none" strike="noStrike"/>
          </a:p>
        </p:txBody>
      </p:sp>
      <p:sp>
        <p:nvSpPr>
          <p:cNvPr id="250" name="Google Shape;250;p29"/>
          <p:cNvSpPr/>
          <p:nvPr/>
        </p:nvSpPr>
        <p:spPr>
          <a:xfrm>
            <a:off x="1419225" y="1727954"/>
            <a:ext cx="2628424" cy="3286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4B4A4A"/>
              </a:buClr>
              <a:buSzPts val="2050"/>
              <a:buFont typeface="Arial"/>
              <a:buNone/>
            </a:pPr>
            <a:r>
              <a:rPr b="1" i="0" lang="en-US" sz="2050" u="none" cap="none" strike="noStrike">
                <a:solidFill>
                  <a:srgbClr val="4B4A4A"/>
                </a:solidFill>
                <a:latin typeface="Arial"/>
                <a:ea typeface="Arial"/>
                <a:cs typeface="Arial"/>
                <a:sym typeface="Arial"/>
              </a:rPr>
              <a:t>Revenue Leader</a:t>
            </a:r>
            <a:endParaRPr b="0" i="0" sz="2050" u="none" cap="none" strike="noStrike"/>
          </a:p>
        </p:txBody>
      </p:sp>
      <p:sp>
        <p:nvSpPr>
          <p:cNvPr id="251" name="Google Shape;251;p29"/>
          <p:cNvSpPr/>
          <p:nvPr/>
        </p:nvSpPr>
        <p:spPr>
          <a:xfrm>
            <a:off x="1419225" y="2182654"/>
            <a:ext cx="12475250" cy="3363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Clr>
                <a:srgbClr val="4B4A4A"/>
              </a:buClr>
              <a:buSzPts val="1650"/>
              <a:buFont typeface="Geist"/>
              <a:buNone/>
            </a:pPr>
            <a:r>
              <a:rPr b="0" i="0" lang="en-US" sz="1650" u="none" cap="none" strike="noStrike">
                <a:solidFill>
                  <a:srgbClr val="4B4A4A"/>
                </a:solidFill>
                <a:latin typeface="Geist"/>
                <a:ea typeface="Geist"/>
                <a:cs typeface="Geist"/>
                <a:sym typeface="Geist"/>
              </a:rPr>
              <a:t>Identified the highest revenue-generating category.</a:t>
            </a:r>
            <a:endParaRPr b="0" i="0" sz="1650" u="none" cap="none" strike="noStrike"/>
          </a:p>
        </p:txBody>
      </p:sp>
      <p:sp>
        <p:nvSpPr>
          <p:cNvPr id="252" name="Google Shape;252;p29"/>
          <p:cNvSpPr/>
          <p:nvPr/>
        </p:nvSpPr>
        <p:spPr>
          <a:xfrm>
            <a:off x="735925" y="2939534"/>
            <a:ext cx="473035" cy="473035"/>
          </a:xfrm>
          <a:prstGeom prst="roundRect">
            <a:avLst>
              <a:gd fmla="val 40008" name="adj"/>
            </a:avLst>
          </a:prstGeom>
          <a:solidFill>
            <a:srgbClr val="D1EFE4"/>
          </a:solidFill>
          <a:ln cap="flat" cmpd="sng" w="9525">
            <a:solidFill>
              <a:srgbClr val="B7D5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29"/>
          <p:cNvSpPr/>
          <p:nvPr/>
        </p:nvSpPr>
        <p:spPr>
          <a:xfrm>
            <a:off x="814685" y="2978884"/>
            <a:ext cx="315397" cy="3942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4A4A"/>
              </a:buClr>
              <a:buSzPts val="2450"/>
              <a:buFont typeface="Arial"/>
              <a:buNone/>
            </a:pPr>
            <a:r>
              <a:rPr b="1" i="0" lang="en-US" sz="2450" u="none" cap="none" strike="noStrike">
                <a:solidFill>
                  <a:srgbClr val="4B4A4A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2450" u="none" cap="none" strike="noStrike"/>
          </a:p>
        </p:txBody>
      </p:sp>
      <p:sp>
        <p:nvSpPr>
          <p:cNvPr id="254" name="Google Shape;254;p29"/>
          <p:cNvSpPr/>
          <p:nvPr/>
        </p:nvSpPr>
        <p:spPr>
          <a:xfrm>
            <a:off x="1419225" y="3011805"/>
            <a:ext cx="2628424" cy="3286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4B4A4A"/>
              </a:buClr>
              <a:buSzPts val="2050"/>
              <a:buFont typeface="Arial"/>
              <a:buNone/>
            </a:pPr>
            <a:r>
              <a:rPr b="1" i="0" lang="en-US" sz="2050" u="none" cap="none" strike="noStrike">
                <a:solidFill>
                  <a:srgbClr val="4B4A4A"/>
                </a:solidFill>
                <a:latin typeface="Arial"/>
                <a:ea typeface="Arial"/>
                <a:cs typeface="Arial"/>
                <a:sym typeface="Arial"/>
              </a:rPr>
              <a:t>Profit Hub</a:t>
            </a:r>
            <a:endParaRPr b="0" i="0" sz="2050" u="none" cap="none" strike="noStrike"/>
          </a:p>
        </p:txBody>
      </p:sp>
      <p:sp>
        <p:nvSpPr>
          <p:cNvPr id="255" name="Google Shape;255;p29"/>
          <p:cNvSpPr/>
          <p:nvPr/>
        </p:nvSpPr>
        <p:spPr>
          <a:xfrm>
            <a:off x="1419225" y="3466505"/>
            <a:ext cx="12475250" cy="3363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Clr>
                <a:srgbClr val="4B4A4A"/>
              </a:buClr>
              <a:buSzPts val="1650"/>
              <a:buFont typeface="Geist"/>
              <a:buNone/>
            </a:pPr>
            <a:r>
              <a:rPr b="0" i="0" lang="en-US" sz="1650" u="none" cap="none" strike="noStrike">
                <a:solidFill>
                  <a:srgbClr val="4B4A4A"/>
                </a:solidFill>
                <a:latin typeface="Geist"/>
                <a:ea typeface="Geist"/>
                <a:cs typeface="Geist"/>
                <a:sym typeface="Geist"/>
              </a:rPr>
              <a:t>Pinpointed the most profitable geographical region.</a:t>
            </a:r>
            <a:endParaRPr b="0" i="0" sz="1650" u="none" cap="none" strike="noStrike"/>
          </a:p>
        </p:txBody>
      </p:sp>
      <p:sp>
        <p:nvSpPr>
          <p:cNvPr id="256" name="Google Shape;256;p29"/>
          <p:cNvSpPr/>
          <p:nvPr/>
        </p:nvSpPr>
        <p:spPr>
          <a:xfrm>
            <a:off x="735925" y="4223385"/>
            <a:ext cx="473035" cy="473035"/>
          </a:xfrm>
          <a:prstGeom prst="roundRect">
            <a:avLst>
              <a:gd fmla="val 40008" name="adj"/>
            </a:avLst>
          </a:prstGeom>
          <a:solidFill>
            <a:srgbClr val="D1EFE4"/>
          </a:solidFill>
          <a:ln cap="flat" cmpd="sng" w="9525">
            <a:solidFill>
              <a:srgbClr val="B7D5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29"/>
          <p:cNvSpPr/>
          <p:nvPr/>
        </p:nvSpPr>
        <p:spPr>
          <a:xfrm>
            <a:off x="814685" y="4262735"/>
            <a:ext cx="315397" cy="3942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4A4A"/>
              </a:buClr>
              <a:buSzPts val="2450"/>
              <a:buFont typeface="Arial"/>
              <a:buNone/>
            </a:pPr>
            <a:r>
              <a:rPr b="1" i="0" lang="en-US" sz="2450" u="none" cap="none" strike="noStrike">
                <a:solidFill>
                  <a:srgbClr val="4B4A4A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2450" u="none" cap="none" strike="noStrike"/>
          </a:p>
        </p:txBody>
      </p:sp>
      <p:sp>
        <p:nvSpPr>
          <p:cNvPr id="258" name="Google Shape;258;p29"/>
          <p:cNvSpPr/>
          <p:nvPr/>
        </p:nvSpPr>
        <p:spPr>
          <a:xfrm>
            <a:off x="1419225" y="4295656"/>
            <a:ext cx="2628424" cy="3286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4B4A4A"/>
              </a:buClr>
              <a:buSzPts val="2050"/>
              <a:buFont typeface="Arial"/>
              <a:buNone/>
            </a:pPr>
            <a:r>
              <a:rPr b="1" i="0" lang="en-US" sz="2050" u="none" cap="none" strike="noStrike">
                <a:solidFill>
                  <a:srgbClr val="4B4A4A"/>
                </a:solidFill>
                <a:latin typeface="Arial"/>
                <a:ea typeface="Arial"/>
                <a:cs typeface="Arial"/>
                <a:sym typeface="Arial"/>
              </a:rPr>
              <a:t>Sales Driver</a:t>
            </a:r>
            <a:endParaRPr b="0" i="0" sz="2050" u="none" cap="none" strike="noStrike"/>
          </a:p>
        </p:txBody>
      </p:sp>
      <p:sp>
        <p:nvSpPr>
          <p:cNvPr id="259" name="Google Shape;259;p29"/>
          <p:cNvSpPr/>
          <p:nvPr/>
        </p:nvSpPr>
        <p:spPr>
          <a:xfrm>
            <a:off x="1419225" y="4750356"/>
            <a:ext cx="12475250" cy="3363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Clr>
                <a:srgbClr val="4B4A4A"/>
              </a:buClr>
              <a:buSzPts val="1650"/>
              <a:buFont typeface="Geist"/>
              <a:buNone/>
            </a:pPr>
            <a:r>
              <a:rPr b="0" i="0" lang="en-US" sz="1650" u="none" cap="none" strike="noStrike">
                <a:solidFill>
                  <a:srgbClr val="4B4A4A"/>
                </a:solidFill>
                <a:latin typeface="Geist"/>
                <a:ea typeface="Geist"/>
                <a:cs typeface="Geist"/>
                <a:sym typeface="Geist"/>
              </a:rPr>
              <a:t>Determined the segment contributing most to sales.</a:t>
            </a:r>
            <a:endParaRPr b="0" i="0" sz="1650" u="none" cap="none" strike="noStrike"/>
          </a:p>
        </p:txBody>
      </p:sp>
      <p:sp>
        <p:nvSpPr>
          <p:cNvPr id="260" name="Google Shape;260;p29"/>
          <p:cNvSpPr/>
          <p:nvPr/>
        </p:nvSpPr>
        <p:spPr>
          <a:xfrm>
            <a:off x="735925" y="5507236"/>
            <a:ext cx="473035" cy="473035"/>
          </a:xfrm>
          <a:prstGeom prst="roundRect">
            <a:avLst>
              <a:gd fmla="val 40008" name="adj"/>
            </a:avLst>
          </a:prstGeom>
          <a:solidFill>
            <a:srgbClr val="D1EFE4"/>
          </a:solidFill>
          <a:ln cap="flat" cmpd="sng" w="9525">
            <a:solidFill>
              <a:srgbClr val="B7D5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29"/>
          <p:cNvSpPr/>
          <p:nvPr/>
        </p:nvSpPr>
        <p:spPr>
          <a:xfrm>
            <a:off x="814685" y="5546586"/>
            <a:ext cx="315397" cy="3942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4A4A"/>
              </a:buClr>
              <a:buSzPts val="2450"/>
              <a:buFont typeface="Arial"/>
              <a:buNone/>
            </a:pPr>
            <a:r>
              <a:rPr b="1" i="0" lang="en-US" sz="2450" u="none" cap="none" strike="noStrike">
                <a:solidFill>
                  <a:srgbClr val="4B4A4A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2450" u="none" cap="none" strike="noStrike"/>
          </a:p>
        </p:txBody>
      </p:sp>
      <p:sp>
        <p:nvSpPr>
          <p:cNvPr id="262" name="Google Shape;262;p29"/>
          <p:cNvSpPr/>
          <p:nvPr/>
        </p:nvSpPr>
        <p:spPr>
          <a:xfrm>
            <a:off x="1419225" y="5579507"/>
            <a:ext cx="2628424" cy="3286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4B4A4A"/>
              </a:buClr>
              <a:buSzPts val="2050"/>
              <a:buFont typeface="Arial"/>
              <a:buNone/>
            </a:pPr>
            <a:r>
              <a:rPr b="1" i="0" lang="en-US" sz="2050" u="none" cap="none" strike="noStrike">
                <a:solidFill>
                  <a:srgbClr val="4B4A4A"/>
                </a:solidFill>
                <a:latin typeface="Arial"/>
                <a:ea typeface="Arial"/>
                <a:cs typeface="Arial"/>
                <a:sym typeface="Arial"/>
              </a:rPr>
              <a:t>Top Products</a:t>
            </a:r>
            <a:endParaRPr b="0" i="0" sz="2050" u="none" cap="none" strike="noStrike"/>
          </a:p>
        </p:txBody>
      </p:sp>
      <p:sp>
        <p:nvSpPr>
          <p:cNvPr id="263" name="Google Shape;263;p29"/>
          <p:cNvSpPr/>
          <p:nvPr/>
        </p:nvSpPr>
        <p:spPr>
          <a:xfrm>
            <a:off x="1419225" y="6034207"/>
            <a:ext cx="12475250" cy="3363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Clr>
                <a:srgbClr val="4B4A4A"/>
              </a:buClr>
              <a:buSzPts val="1650"/>
              <a:buFont typeface="Geist"/>
              <a:buNone/>
            </a:pPr>
            <a:r>
              <a:rPr b="0" i="0" lang="en-US" sz="1650" u="none" cap="none" strike="noStrike">
                <a:solidFill>
                  <a:srgbClr val="4B4A4A"/>
                </a:solidFill>
                <a:latin typeface="Geist"/>
                <a:ea typeface="Geist"/>
                <a:cs typeface="Geist"/>
                <a:sym typeface="Geist"/>
              </a:rPr>
              <a:t>Highlighted the best-selling products.</a:t>
            </a:r>
            <a:endParaRPr b="0" i="0" sz="1650" u="none" cap="none" strike="noStrike"/>
          </a:p>
        </p:txBody>
      </p:sp>
      <p:sp>
        <p:nvSpPr>
          <p:cNvPr id="264" name="Google Shape;264;p29"/>
          <p:cNvSpPr/>
          <p:nvPr/>
        </p:nvSpPr>
        <p:spPr>
          <a:xfrm>
            <a:off x="735925" y="6791087"/>
            <a:ext cx="473035" cy="473035"/>
          </a:xfrm>
          <a:prstGeom prst="roundRect">
            <a:avLst>
              <a:gd fmla="val 40008" name="adj"/>
            </a:avLst>
          </a:prstGeom>
          <a:solidFill>
            <a:srgbClr val="D1EFE4"/>
          </a:solidFill>
          <a:ln cap="flat" cmpd="sng" w="9525">
            <a:solidFill>
              <a:srgbClr val="B7D5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29"/>
          <p:cNvSpPr/>
          <p:nvPr/>
        </p:nvSpPr>
        <p:spPr>
          <a:xfrm>
            <a:off x="814685" y="6830437"/>
            <a:ext cx="315397" cy="3942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4A4A"/>
              </a:buClr>
              <a:buSzPts val="2450"/>
              <a:buFont typeface="Arial"/>
              <a:buNone/>
            </a:pPr>
            <a:r>
              <a:rPr b="1" i="0" lang="en-US" sz="2450" u="none" cap="none" strike="noStrike">
                <a:solidFill>
                  <a:srgbClr val="4B4A4A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2450" u="none" cap="none" strike="noStrike"/>
          </a:p>
        </p:txBody>
      </p:sp>
      <p:sp>
        <p:nvSpPr>
          <p:cNvPr id="266" name="Google Shape;266;p29"/>
          <p:cNvSpPr/>
          <p:nvPr/>
        </p:nvSpPr>
        <p:spPr>
          <a:xfrm>
            <a:off x="1419225" y="6863358"/>
            <a:ext cx="2628424" cy="3286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4B4A4A"/>
              </a:buClr>
              <a:buSzPts val="2050"/>
              <a:buFont typeface="Arial"/>
              <a:buNone/>
            </a:pPr>
            <a:r>
              <a:rPr b="1" i="0" lang="en-US" sz="2050" u="none" cap="none" strike="noStrike">
                <a:solidFill>
                  <a:srgbClr val="4B4A4A"/>
                </a:solidFill>
                <a:latin typeface="Arial"/>
                <a:ea typeface="Arial"/>
                <a:cs typeface="Arial"/>
                <a:sym typeface="Arial"/>
              </a:rPr>
              <a:t>Sales Evolution</a:t>
            </a:r>
            <a:endParaRPr b="0" i="0" sz="2050" u="none" cap="none" strike="noStrike"/>
          </a:p>
        </p:txBody>
      </p:sp>
      <p:sp>
        <p:nvSpPr>
          <p:cNvPr id="267" name="Google Shape;267;p29"/>
          <p:cNvSpPr/>
          <p:nvPr/>
        </p:nvSpPr>
        <p:spPr>
          <a:xfrm>
            <a:off x="1419225" y="7318058"/>
            <a:ext cx="12475250" cy="3363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Clr>
                <a:srgbClr val="4B4A4A"/>
              </a:buClr>
              <a:buSzPts val="1650"/>
              <a:buFont typeface="Geist"/>
              <a:buNone/>
            </a:pPr>
            <a:r>
              <a:rPr b="0" i="0" lang="en-US" sz="1650" u="none" cap="none" strike="noStrike">
                <a:solidFill>
                  <a:srgbClr val="4B4A4A"/>
                </a:solidFill>
                <a:latin typeface="Geist"/>
                <a:ea typeface="Geist"/>
                <a:cs typeface="Geist"/>
                <a:sym typeface="Geist"/>
              </a:rPr>
              <a:t>Analyzed monthly sales trends for seasonality.</a:t>
            </a:r>
            <a:endParaRPr b="0" i="0" sz="1650" u="none" cap="none" strike="noStrike"/>
          </a:p>
        </p:txBody>
      </p:sp>
      <p:sp>
        <p:nvSpPr>
          <p:cNvPr id="268" name="Google Shape;268;p29"/>
          <p:cNvSpPr/>
          <p:nvPr/>
        </p:nvSpPr>
        <p:spPr>
          <a:xfrm>
            <a:off x="12824325" y="7595400"/>
            <a:ext cx="1736700" cy="634200"/>
          </a:xfrm>
          <a:prstGeom prst="rect">
            <a:avLst/>
          </a:prstGeom>
          <a:solidFill>
            <a:srgbClr val="E0F6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74" name="Google Shape;274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760720" cy="8238172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30"/>
          <p:cNvSpPr/>
          <p:nvPr/>
        </p:nvSpPr>
        <p:spPr>
          <a:xfrm>
            <a:off x="6078260" y="465058"/>
            <a:ext cx="5217319" cy="5283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57"/>
              </a:lnSpc>
              <a:spcBef>
                <a:spcPts val="0"/>
              </a:spcBef>
              <a:spcAft>
                <a:spcPts val="0"/>
              </a:spcAft>
              <a:buClr>
                <a:srgbClr val="006747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006747"/>
                </a:solidFill>
                <a:latin typeface="Arial"/>
                <a:ea typeface="Arial"/>
                <a:cs typeface="Arial"/>
                <a:sym typeface="Arial"/>
              </a:rPr>
              <a:t>Conclusion &amp; Next Steps</a:t>
            </a:r>
            <a:endParaRPr b="0" i="0" sz="3300" u="none" cap="none" strike="noStrike"/>
          </a:p>
        </p:txBody>
      </p:sp>
      <p:sp>
        <p:nvSpPr>
          <p:cNvPr id="276" name="Google Shape;276;p30"/>
          <p:cNvSpPr/>
          <p:nvPr/>
        </p:nvSpPr>
        <p:spPr>
          <a:xfrm>
            <a:off x="6078260" y="1500664"/>
            <a:ext cx="7960281" cy="1251109"/>
          </a:xfrm>
          <a:prstGeom prst="roundRect">
            <a:avLst>
              <a:gd fmla="val 8770" name="adj"/>
            </a:avLst>
          </a:prstGeom>
          <a:solidFill>
            <a:srgbClr val="E5F9F2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30"/>
          <p:cNvSpPr/>
          <p:nvPr/>
        </p:nvSpPr>
        <p:spPr>
          <a:xfrm>
            <a:off x="6078260" y="1477804"/>
            <a:ext cx="7960281" cy="91440"/>
          </a:xfrm>
          <a:prstGeom prst="roundRect">
            <a:avLst>
              <a:gd fmla="val 166472" name="adj"/>
            </a:avLst>
          </a:prstGeom>
          <a:solidFill>
            <a:srgbClr val="0067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30"/>
          <p:cNvSpPr/>
          <p:nvPr/>
        </p:nvSpPr>
        <p:spPr>
          <a:xfrm>
            <a:off x="9804737" y="1247061"/>
            <a:ext cx="507325" cy="507325"/>
          </a:xfrm>
          <a:prstGeom prst="roundRect">
            <a:avLst>
              <a:gd fmla="val 180239" name="adj"/>
            </a:avLst>
          </a:prstGeom>
          <a:solidFill>
            <a:srgbClr val="0067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30"/>
          <p:cNvSpPr/>
          <p:nvPr/>
        </p:nvSpPr>
        <p:spPr>
          <a:xfrm>
            <a:off x="9956899" y="1373862"/>
            <a:ext cx="202883" cy="2536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451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Arial"/>
              <a:buNone/>
            </a:pPr>
            <a:r>
              <a:rPr b="1" i="0" lang="en-US" sz="15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550" u="none" cap="none" strike="noStrike"/>
          </a:p>
        </p:txBody>
      </p:sp>
      <p:sp>
        <p:nvSpPr>
          <p:cNvPr id="280" name="Google Shape;280;p30"/>
          <p:cNvSpPr/>
          <p:nvPr/>
        </p:nvSpPr>
        <p:spPr>
          <a:xfrm>
            <a:off x="6270188" y="1923455"/>
            <a:ext cx="2330887" cy="2643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242"/>
              </a:lnSpc>
              <a:spcBef>
                <a:spcPts val="0"/>
              </a:spcBef>
              <a:spcAft>
                <a:spcPts val="0"/>
              </a:spcAft>
              <a:buClr>
                <a:srgbClr val="4B4A4A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4B4A4A"/>
                </a:solidFill>
                <a:latin typeface="Arial"/>
                <a:ea typeface="Arial"/>
                <a:cs typeface="Arial"/>
                <a:sym typeface="Arial"/>
              </a:rPr>
              <a:t>Monitor Performance</a:t>
            </a:r>
            <a:endParaRPr b="0" i="0" sz="1650" u="none" cap="none" strike="noStrike"/>
          </a:p>
        </p:txBody>
      </p:sp>
      <p:sp>
        <p:nvSpPr>
          <p:cNvPr id="281" name="Google Shape;281;p30"/>
          <p:cNvSpPr/>
          <p:nvPr/>
        </p:nvSpPr>
        <p:spPr>
          <a:xfrm>
            <a:off x="6270188" y="2289215"/>
            <a:ext cx="7576423" cy="2706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538"/>
              </a:lnSpc>
              <a:spcBef>
                <a:spcPts val="0"/>
              </a:spcBef>
              <a:spcAft>
                <a:spcPts val="0"/>
              </a:spcAft>
              <a:buClr>
                <a:srgbClr val="4B4A4A"/>
              </a:buClr>
              <a:buSzPts val="1300"/>
              <a:buFont typeface="Geist"/>
              <a:buNone/>
            </a:pPr>
            <a:r>
              <a:rPr b="0" i="0" lang="en-US" sz="1300" u="none" cap="none" strike="noStrike">
                <a:solidFill>
                  <a:srgbClr val="4B4A4A"/>
                </a:solidFill>
                <a:latin typeface="Geist"/>
                <a:ea typeface="Geist"/>
                <a:cs typeface="Geist"/>
                <a:sym typeface="Geist"/>
              </a:rPr>
              <a:t>Effectively track business health and progress.</a:t>
            </a:r>
            <a:endParaRPr b="0" i="0" sz="1300" u="none" cap="none" strike="noStrike"/>
          </a:p>
        </p:txBody>
      </p:sp>
      <p:sp>
        <p:nvSpPr>
          <p:cNvPr id="282" name="Google Shape;282;p30"/>
          <p:cNvSpPr/>
          <p:nvPr/>
        </p:nvSpPr>
        <p:spPr>
          <a:xfrm>
            <a:off x="6078260" y="3174444"/>
            <a:ext cx="7960281" cy="1251109"/>
          </a:xfrm>
          <a:prstGeom prst="roundRect">
            <a:avLst>
              <a:gd fmla="val 8770" name="adj"/>
            </a:avLst>
          </a:prstGeom>
          <a:solidFill>
            <a:srgbClr val="E5F9F2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30"/>
          <p:cNvSpPr/>
          <p:nvPr/>
        </p:nvSpPr>
        <p:spPr>
          <a:xfrm>
            <a:off x="6078260" y="3151584"/>
            <a:ext cx="7960281" cy="91440"/>
          </a:xfrm>
          <a:prstGeom prst="roundRect">
            <a:avLst>
              <a:gd fmla="val 166472" name="adj"/>
            </a:avLst>
          </a:prstGeom>
          <a:solidFill>
            <a:srgbClr val="0067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30"/>
          <p:cNvSpPr/>
          <p:nvPr/>
        </p:nvSpPr>
        <p:spPr>
          <a:xfrm>
            <a:off x="9804737" y="2920841"/>
            <a:ext cx="507325" cy="507325"/>
          </a:xfrm>
          <a:prstGeom prst="roundRect">
            <a:avLst>
              <a:gd fmla="val 180239" name="adj"/>
            </a:avLst>
          </a:prstGeom>
          <a:solidFill>
            <a:srgbClr val="0067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30"/>
          <p:cNvSpPr/>
          <p:nvPr/>
        </p:nvSpPr>
        <p:spPr>
          <a:xfrm>
            <a:off x="9956899" y="3047643"/>
            <a:ext cx="202883" cy="2536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451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Arial"/>
              <a:buNone/>
            </a:pPr>
            <a:r>
              <a:rPr b="1" i="0" lang="en-US" sz="15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550" u="none" cap="none" strike="noStrike"/>
          </a:p>
        </p:txBody>
      </p:sp>
      <p:sp>
        <p:nvSpPr>
          <p:cNvPr id="286" name="Google Shape;286;p30"/>
          <p:cNvSpPr/>
          <p:nvPr/>
        </p:nvSpPr>
        <p:spPr>
          <a:xfrm>
            <a:off x="6270188" y="3597235"/>
            <a:ext cx="2393633" cy="2643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242"/>
              </a:lnSpc>
              <a:spcBef>
                <a:spcPts val="0"/>
              </a:spcBef>
              <a:spcAft>
                <a:spcPts val="0"/>
              </a:spcAft>
              <a:buClr>
                <a:srgbClr val="4B4A4A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4B4A4A"/>
                </a:solidFill>
                <a:latin typeface="Arial"/>
                <a:ea typeface="Arial"/>
                <a:cs typeface="Arial"/>
                <a:sym typeface="Arial"/>
              </a:rPr>
              <a:t>Data-Driven Decisions</a:t>
            </a:r>
            <a:endParaRPr b="0" i="0" sz="1650" u="none" cap="none" strike="noStrike"/>
          </a:p>
        </p:txBody>
      </p:sp>
      <p:sp>
        <p:nvSpPr>
          <p:cNvPr id="287" name="Google Shape;287;p30"/>
          <p:cNvSpPr/>
          <p:nvPr/>
        </p:nvSpPr>
        <p:spPr>
          <a:xfrm>
            <a:off x="6270188" y="3962995"/>
            <a:ext cx="7576423" cy="2706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538"/>
              </a:lnSpc>
              <a:spcBef>
                <a:spcPts val="0"/>
              </a:spcBef>
              <a:spcAft>
                <a:spcPts val="0"/>
              </a:spcAft>
              <a:buClr>
                <a:srgbClr val="4B4A4A"/>
              </a:buClr>
              <a:buSzPts val="1300"/>
              <a:buFont typeface="Geist"/>
              <a:buNone/>
            </a:pPr>
            <a:r>
              <a:rPr b="0" i="0" lang="en-US" sz="1300" u="none" cap="none" strike="noStrike">
                <a:solidFill>
                  <a:srgbClr val="4B4A4A"/>
                </a:solidFill>
                <a:latin typeface="Geist"/>
                <a:ea typeface="Geist"/>
                <a:cs typeface="Geist"/>
                <a:sym typeface="Geist"/>
              </a:rPr>
              <a:t>Make informed choices based on solid data.</a:t>
            </a:r>
            <a:endParaRPr b="0" i="0" sz="1300" u="none" cap="none" strike="noStrike"/>
          </a:p>
        </p:txBody>
      </p:sp>
      <p:sp>
        <p:nvSpPr>
          <p:cNvPr id="288" name="Google Shape;288;p30"/>
          <p:cNvSpPr/>
          <p:nvPr/>
        </p:nvSpPr>
        <p:spPr>
          <a:xfrm>
            <a:off x="6078260" y="4848225"/>
            <a:ext cx="7960281" cy="1251109"/>
          </a:xfrm>
          <a:prstGeom prst="roundRect">
            <a:avLst>
              <a:gd fmla="val 8770" name="adj"/>
            </a:avLst>
          </a:prstGeom>
          <a:solidFill>
            <a:srgbClr val="E5F9F2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30"/>
          <p:cNvSpPr/>
          <p:nvPr/>
        </p:nvSpPr>
        <p:spPr>
          <a:xfrm>
            <a:off x="6078260" y="4825365"/>
            <a:ext cx="7960281" cy="91440"/>
          </a:xfrm>
          <a:prstGeom prst="roundRect">
            <a:avLst>
              <a:gd fmla="val 166472" name="adj"/>
            </a:avLst>
          </a:prstGeom>
          <a:solidFill>
            <a:srgbClr val="0067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30"/>
          <p:cNvSpPr/>
          <p:nvPr/>
        </p:nvSpPr>
        <p:spPr>
          <a:xfrm>
            <a:off x="9804737" y="4594622"/>
            <a:ext cx="507325" cy="507325"/>
          </a:xfrm>
          <a:prstGeom prst="roundRect">
            <a:avLst>
              <a:gd fmla="val 180239" name="adj"/>
            </a:avLst>
          </a:prstGeom>
          <a:solidFill>
            <a:srgbClr val="0067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30"/>
          <p:cNvSpPr/>
          <p:nvPr/>
        </p:nvSpPr>
        <p:spPr>
          <a:xfrm>
            <a:off x="9956899" y="4721423"/>
            <a:ext cx="202883" cy="2536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451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Arial"/>
              <a:buNone/>
            </a:pPr>
            <a:r>
              <a:rPr b="1" i="0" lang="en-US" sz="15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550" u="none" cap="none" strike="noStrike"/>
          </a:p>
        </p:txBody>
      </p:sp>
      <p:sp>
        <p:nvSpPr>
          <p:cNvPr id="292" name="Google Shape;292;p30"/>
          <p:cNvSpPr/>
          <p:nvPr/>
        </p:nvSpPr>
        <p:spPr>
          <a:xfrm>
            <a:off x="6270188" y="5271016"/>
            <a:ext cx="2372678" cy="2643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242"/>
              </a:lnSpc>
              <a:spcBef>
                <a:spcPts val="0"/>
              </a:spcBef>
              <a:spcAft>
                <a:spcPts val="0"/>
              </a:spcAft>
              <a:buClr>
                <a:srgbClr val="4B4A4A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4B4A4A"/>
                </a:solidFill>
                <a:latin typeface="Arial"/>
                <a:ea typeface="Arial"/>
                <a:cs typeface="Arial"/>
                <a:sym typeface="Arial"/>
              </a:rPr>
              <a:t>Growth Opportunities</a:t>
            </a:r>
            <a:endParaRPr b="0" i="0" sz="1650" u="none" cap="none" strike="noStrike"/>
          </a:p>
        </p:txBody>
      </p:sp>
      <p:sp>
        <p:nvSpPr>
          <p:cNvPr id="293" name="Google Shape;293;p30"/>
          <p:cNvSpPr/>
          <p:nvPr/>
        </p:nvSpPr>
        <p:spPr>
          <a:xfrm>
            <a:off x="6270188" y="5636776"/>
            <a:ext cx="7576423" cy="2706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538"/>
              </a:lnSpc>
              <a:spcBef>
                <a:spcPts val="0"/>
              </a:spcBef>
              <a:spcAft>
                <a:spcPts val="0"/>
              </a:spcAft>
              <a:buClr>
                <a:srgbClr val="4B4A4A"/>
              </a:buClr>
              <a:buSzPts val="1300"/>
              <a:buFont typeface="Geist"/>
              <a:buNone/>
            </a:pPr>
            <a:r>
              <a:rPr b="0" i="0" lang="en-US" sz="1300" u="none" cap="none" strike="noStrike">
                <a:solidFill>
                  <a:srgbClr val="4B4A4A"/>
                </a:solidFill>
                <a:latin typeface="Geist"/>
                <a:ea typeface="Geist"/>
                <a:cs typeface="Geist"/>
                <a:sym typeface="Geist"/>
              </a:rPr>
              <a:t>Identify new avenues for expansion and success.</a:t>
            </a:r>
            <a:endParaRPr b="0" i="0" sz="1300" u="none" cap="none" strike="noStrike"/>
          </a:p>
        </p:txBody>
      </p:sp>
      <p:sp>
        <p:nvSpPr>
          <p:cNvPr id="294" name="Google Shape;294;p30"/>
          <p:cNvSpPr/>
          <p:nvPr/>
        </p:nvSpPr>
        <p:spPr>
          <a:xfrm>
            <a:off x="6078260" y="6522006"/>
            <a:ext cx="7960281" cy="1251109"/>
          </a:xfrm>
          <a:prstGeom prst="roundRect">
            <a:avLst>
              <a:gd fmla="val 8770" name="adj"/>
            </a:avLst>
          </a:prstGeom>
          <a:solidFill>
            <a:srgbClr val="E5F9F2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30"/>
          <p:cNvSpPr/>
          <p:nvPr/>
        </p:nvSpPr>
        <p:spPr>
          <a:xfrm>
            <a:off x="6078260" y="6499146"/>
            <a:ext cx="7960281" cy="91440"/>
          </a:xfrm>
          <a:prstGeom prst="roundRect">
            <a:avLst>
              <a:gd fmla="val 166472" name="adj"/>
            </a:avLst>
          </a:prstGeom>
          <a:solidFill>
            <a:srgbClr val="0067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30"/>
          <p:cNvSpPr/>
          <p:nvPr/>
        </p:nvSpPr>
        <p:spPr>
          <a:xfrm>
            <a:off x="9804737" y="6268403"/>
            <a:ext cx="507325" cy="507325"/>
          </a:xfrm>
          <a:prstGeom prst="roundRect">
            <a:avLst>
              <a:gd fmla="val 180239" name="adj"/>
            </a:avLst>
          </a:prstGeom>
          <a:solidFill>
            <a:srgbClr val="0067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30"/>
          <p:cNvSpPr/>
          <p:nvPr/>
        </p:nvSpPr>
        <p:spPr>
          <a:xfrm>
            <a:off x="9956899" y="6395204"/>
            <a:ext cx="202883" cy="2536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451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Arial"/>
              <a:buNone/>
            </a:pPr>
            <a:r>
              <a:rPr b="1" i="0" lang="en-US" sz="15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550" u="none" cap="none" strike="noStrike"/>
          </a:p>
        </p:txBody>
      </p:sp>
      <p:sp>
        <p:nvSpPr>
          <p:cNvPr id="298" name="Google Shape;298;p30"/>
          <p:cNvSpPr/>
          <p:nvPr/>
        </p:nvSpPr>
        <p:spPr>
          <a:xfrm>
            <a:off x="6270188" y="6944797"/>
            <a:ext cx="2378393" cy="2643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242"/>
              </a:lnSpc>
              <a:spcBef>
                <a:spcPts val="0"/>
              </a:spcBef>
              <a:spcAft>
                <a:spcPts val="0"/>
              </a:spcAft>
              <a:buClr>
                <a:srgbClr val="4B4A4A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4B4A4A"/>
                </a:solidFill>
                <a:latin typeface="Arial"/>
                <a:ea typeface="Arial"/>
                <a:cs typeface="Arial"/>
                <a:sym typeface="Arial"/>
              </a:rPr>
              <a:t>Visual Trend Tracking</a:t>
            </a:r>
            <a:endParaRPr b="0" i="0" sz="1650" u="none" cap="none" strike="noStrike"/>
          </a:p>
        </p:txBody>
      </p:sp>
      <p:sp>
        <p:nvSpPr>
          <p:cNvPr id="299" name="Google Shape;299;p30"/>
          <p:cNvSpPr/>
          <p:nvPr/>
        </p:nvSpPr>
        <p:spPr>
          <a:xfrm>
            <a:off x="6270188" y="7310557"/>
            <a:ext cx="7576423" cy="2706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538"/>
              </a:lnSpc>
              <a:spcBef>
                <a:spcPts val="0"/>
              </a:spcBef>
              <a:spcAft>
                <a:spcPts val="0"/>
              </a:spcAft>
              <a:buClr>
                <a:srgbClr val="4B4A4A"/>
              </a:buClr>
              <a:buSzPts val="1300"/>
              <a:buFont typeface="Geist"/>
              <a:buNone/>
            </a:pPr>
            <a:r>
              <a:rPr b="0" i="0" lang="en-US" sz="1300" u="none" cap="none" strike="noStrike">
                <a:solidFill>
                  <a:srgbClr val="4B4A4A"/>
                </a:solidFill>
                <a:latin typeface="Geist"/>
                <a:ea typeface="Geist"/>
                <a:cs typeface="Geist"/>
                <a:sym typeface="Geist"/>
              </a:rPr>
              <a:t>Keep an eye on business trends with clear visuals.</a:t>
            </a:r>
            <a:endParaRPr b="0" i="0" sz="1300" u="none" cap="none" strike="noStrike"/>
          </a:p>
        </p:txBody>
      </p:sp>
      <p:sp>
        <p:nvSpPr>
          <p:cNvPr id="300" name="Google Shape;300;p30"/>
          <p:cNvSpPr/>
          <p:nvPr/>
        </p:nvSpPr>
        <p:spPr>
          <a:xfrm>
            <a:off x="12824325" y="7595400"/>
            <a:ext cx="1736700" cy="634200"/>
          </a:xfrm>
          <a:prstGeom prst="rect">
            <a:avLst/>
          </a:prstGeom>
          <a:solidFill>
            <a:srgbClr val="E0F6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06" name="Google Shape;306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69680" y="0"/>
            <a:ext cx="576072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31"/>
          <p:cNvSpPr/>
          <p:nvPr/>
        </p:nvSpPr>
        <p:spPr>
          <a:xfrm>
            <a:off x="793790" y="3054429"/>
            <a:ext cx="7556421" cy="14176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280"/>
              </a:lnSpc>
              <a:spcBef>
                <a:spcPts val="0"/>
              </a:spcBef>
              <a:spcAft>
                <a:spcPts val="0"/>
              </a:spcAft>
              <a:buClr>
                <a:srgbClr val="006747"/>
              </a:buClr>
              <a:buSzPts val="8900"/>
              <a:buFont typeface="Arial"/>
              <a:buNone/>
            </a:pPr>
            <a:r>
              <a:rPr b="1" i="0" lang="en-US" sz="8900" u="none" cap="none" strike="noStrike">
                <a:solidFill>
                  <a:srgbClr val="006747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b="0" i="0" sz="8900" u="none" cap="none" strike="noStrike"/>
          </a:p>
        </p:txBody>
      </p:sp>
      <p:sp>
        <p:nvSpPr>
          <p:cNvPr id="308" name="Google Shape;308;p31"/>
          <p:cNvSpPr/>
          <p:nvPr/>
        </p:nvSpPr>
        <p:spPr>
          <a:xfrm>
            <a:off x="793790" y="4812268"/>
            <a:ext cx="755642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B4A4A"/>
              </a:buClr>
              <a:buSzPts val="1750"/>
              <a:buFont typeface="Geist"/>
              <a:buNone/>
            </a:pPr>
            <a:r>
              <a:rPr b="0" i="0" lang="en-US" sz="1750" u="none" cap="none" strike="noStrike">
                <a:solidFill>
                  <a:srgbClr val="4B4A4A"/>
                </a:solidFill>
                <a:latin typeface="Geist"/>
                <a:ea typeface="Geist"/>
                <a:cs typeface="Geist"/>
                <a:sym typeface="Geist"/>
              </a:rPr>
              <a:t>For your attention and engagement.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